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2" r:id="rId7"/>
    <p:sldId id="263" r:id="rId8"/>
    <p:sldId id="261" r:id="rId9"/>
    <p:sldId id="264" r:id="rId10"/>
    <p:sldId id="267" r:id="rId11"/>
    <p:sldId id="265" r:id="rId12"/>
    <p:sldId id="266" r:id="rId13"/>
    <p:sldId id="268" r:id="rId14"/>
    <p:sldId id="272" r:id="rId15"/>
    <p:sldId id="273" r:id="rId16"/>
    <p:sldId id="270"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hj/GYB1ggYKUJP2439A/heVyHS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9" d="100"/>
          <a:sy n="79" d="100"/>
        </p:scale>
        <p:origin x="821"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3" name="Google Shape;1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ölüm Üst Bilgisi" type="secHead">
  <p:cSld name="SECTION_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838200" y="1307822"/>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838200" y="2713383"/>
            <a:ext cx="5181600" cy="34635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8"/>
          <p:cNvSpPr txBox="1">
            <a:spLocks noGrp="1"/>
          </p:cNvSpPr>
          <p:nvPr>
            <p:ph type="body" idx="2"/>
          </p:nvPr>
        </p:nvSpPr>
        <p:spPr>
          <a:xfrm>
            <a:off x="6172200" y="2713383"/>
            <a:ext cx="5181600" cy="34635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839788" y="25955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839788" y="3528391"/>
            <a:ext cx="5157787" cy="266127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9"/>
          <p:cNvSpPr txBox="1">
            <a:spLocks noGrp="1"/>
          </p:cNvSpPr>
          <p:nvPr>
            <p:ph type="body" idx="3"/>
          </p:nvPr>
        </p:nvSpPr>
        <p:spPr>
          <a:xfrm>
            <a:off x="6172200" y="25955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6172200" y="3528389"/>
            <a:ext cx="5183188" cy="26612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838200" y="1307822"/>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839788" y="1411012"/>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5183188" y="1411012"/>
            <a:ext cx="6172200" cy="4450038"/>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839788" y="3011212"/>
            <a:ext cx="3932237" cy="285777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839788" y="1391478"/>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3"/>
          <p:cNvSpPr>
            <a:spLocks noGrp="1"/>
          </p:cNvSpPr>
          <p:nvPr>
            <p:ph type="pic" idx="2"/>
          </p:nvPr>
        </p:nvSpPr>
        <p:spPr>
          <a:xfrm>
            <a:off x="5183188" y="1391478"/>
            <a:ext cx="6172200" cy="4469572"/>
          </a:xfrm>
          <a:prstGeom prst="rect">
            <a:avLst/>
          </a:prstGeom>
          <a:noFill/>
          <a:ln>
            <a:noFill/>
          </a:ln>
        </p:spPr>
      </p:sp>
      <p:sp>
        <p:nvSpPr>
          <p:cNvPr id="64" name="Google Shape;64;p23"/>
          <p:cNvSpPr txBox="1">
            <a:spLocks noGrp="1"/>
          </p:cNvSpPr>
          <p:nvPr>
            <p:ph type="body" idx="1"/>
          </p:nvPr>
        </p:nvSpPr>
        <p:spPr>
          <a:xfrm>
            <a:off x="839788" y="2991678"/>
            <a:ext cx="3932237" cy="287731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 ve Dikey Metin"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838200" y="1307822"/>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4413906" y="-762932"/>
            <a:ext cx="3364189"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838200" y="1307822"/>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Times New Roman"/>
              <a:buNone/>
              <a:defRPr sz="4400" b="1"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4"/>
          <p:cNvSpPr txBox="1">
            <a:spLocks noGrp="1"/>
          </p:cNvSpPr>
          <p:nvPr>
            <p:ph type="body" idx="1"/>
          </p:nvPr>
        </p:nvSpPr>
        <p:spPr>
          <a:xfrm>
            <a:off x="838200" y="2812773"/>
            <a:ext cx="10515600" cy="336418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tr-T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3.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acrilot.github.io/EICAS_Uygulama/"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hyperlink" Target="https://tr.wikipedia.org/wiki/JavaScript" TargetMode="External"/><Relationship Id="rId3" Type="http://schemas.openxmlformats.org/officeDocument/2006/relationships/hyperlink" Target="https://www.svgrepo.com/svg/452228/html-5" TargetMode="External"/><Relationship Id="rId7" Type="http://schemas.openxmlformats.org/officeDocument/2006/relationships/hyperlink" Target="https://tr.wikipedia.org/wiki/CSS" TargetMode="External"/><Relationship Id="rId2" Type="http://schemas.openxmlformats.org/officeDocument/2006/relationships/hyperlink" Target="https://www.svgrepo.com/svg/353925/javascript" TargetMode="External"/><Relationship Id="rId1" Type="http://schemas.openxmlformats.org/officeDocument/2006/relationships/slideLayout" Target="../slideLayouts/slideLayout3.xml"/><Relationship Id="rId6" Type="http://schemas.openxmlformats.org/officeDocument/2006/relationships/hyperlink" Target="https://tr.wikipedia.org/wiki/HTML" TargetMode="External"/><Relationship Id="rId5" Type="http://schemas.openxmlformats.org/officeDocument/2006/relationships/hyperlink" Target="https://tr.wikipedia.org/wiki/%C3%96l%C3%A7eklenebilir_Vekt%C3%B6r_Grafikleri" TargetMode="External"/><Relationship Id="rId4" Type="http://schemas.openxmlformats.org/officeDocument/2006/relationships/hyperlink" Target="https://www.svgrepo.com/svg/452185/css-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Times New Roman"/>
              <a:buNone/>
            </a:pP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pic>
        <p:nvPicPr>
          <p:cNvPr id="86" name="Google Shape;86;p1" descr="Background pattern&#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7" name="Google Shape;87;p1"/>
          <p:cNvSpPr txBox="1"/>
          <p:nvPr/>
        </p:nvSpPr>
        <p:spPr>
          <a:xfrm>
            <a:off x="421373" y="2105601"/>
            <a:ext cx="11349254" cy="1323399"/>
          </a:xfrm>
          <a:prstGeom prst="rect">
            <a:avLst/>
          </a:prstGeom>
          <a:noFill/>
          <a:ln>
            <a:noFill/>
          </a:ln>
        </p:spPr>
        <p:txBody>
          <a:bodyPr spcFirstLastPara="1" wrap="square" lIns="91425" tIns="45700" rIns="91425" bIns="45700" anchor="b" anchorCtr="0">
            <a:spAutoFit/>
          </a:bodyPr>
          <a:lstStyle/>
          <a:p>
            <a:pPr marL="0" marR="0" lvl="0" indent="0" algn="ctr" rtl="0">
              <a:spcBef>
                <a:spcPts val="0"/>
              </a:spcBef>
              <a:spcAft>
                <a:spcPts val="0"/>
              </a:spcAft>
              <a:buNone/>
            </a:pPr>
            <a:r>
              <a:rPr lang="tr-TR" sz="4000" b="1" i="0" u="none" strike="noStrike" cap="none" dirty="0">
                <a:solidFill>
                  <a:srgbClr val="262626"/>
                </a:solidFill>
                <a:latin typeface="Times New Roman"/>
                <a:ea typeface="Times New Roman"/>
                <a:cs typeface="Times New Roman"/>
                <a:sym typeface="Times New Roman"/>
              </a:rPr>
              <a:t>BOEING 737-600/700 EICAS </a:t>
            </a:r>
            <a:r>
              <a:rPr lang="tr-TR" sz="4000" b="1" dirty="0">
                <a:solidFill>
                  <a:srgbClr val="262626"/>
                </a:solidFill>
                <a:latin typeface="Times New Roman"/>
                <a:ea typeface="Times New Roman"/>
                <a:cs typeface="Times New Roman"/>
                <a:sym typeface="Times New Roman"/>
              </a:rPr>
              <a:t>PRIMARY PARAMETERS </a:t>
            </a:r>
            <a:r>
              <a:rPr lang="tr-TR" sz="4000" b="1" i="0" u="none" strike="noStrike" cap="none" dirty="0">
                <a:solidFill>
                  <a:srgbClr val="262626"/>
                </a:solidFill>
                <a:latin typeface="Times New Roman"/>
                <a:ea typeface="Times New Roman"/>
                <a:cs typeface="Times New Roman"/>
                <a:sym typeface="Times New Roman"/>
              </a:rPr>
              <a:t>DISPLAY</a:t>
            </a:r>
            <a:endParaRPr sz="4000" b="1" i="0" u="none" strike="noStrike" cap="none" dirty="0">
              <a:solidFill>
                <a:srgbClr val="262626"/>
              </a:solidFill>
              <a:latin typeface="Times New Roman"/>
              <a:ea typeface="Times New Roman"/>
              <a:cs typeface="Times New Roman"/>
              <a:sym typeface="Times New Roman"/>
            </a:endParaRPr>
          </a:p>
        </p:txBody>
      </p:sp>
      <p:pic>
        <p:nvPicPr>
          <p:cNvPr id="89" name="Google Shape;89;p1" descr="Logo&#10;&#10;Description automatically generated with low confidence"/>
          <p:cNvPicPr preferRelativeResize="0"/>
          <p:nvPr/>
        </p:nvPicPr>
        <p:blipFill rotWithShape="1">
          <a:blip r:embed="rId4">
            <a:alphaModFix/>
          </a:blip>
          <a:srcRect/>
          <a:stretch/>
        </p:blipFill>
        <p:spPr>
          <a:xfrm>
            <a:off x="4600559" y="194674"/>
            <a:ext cx="2990882" cy="1317823"/>
          </a:xfrm>
          <a:prstGeom prst="rect">
            <a:avLst/>
          </a:prstGeom>
          <a:noFill/>
          <a:ln>
            <a:noFill/>
          </a:ln>
        </p:spPr>
      </p:pic>
      <p:sp>
        <p:nvSpPr>
          <p:cNvPr id="90" name="Google Shape;90;p1"/>
          <p:cNvSpPr txBox="1"/>
          <p:nvPr/>
        </p:nvSpPr>
        <p:spPr>
          <a:xfrm>
            <a:off x="131119" y="4272071"/>
            <a:ext cx="11726700" cy="14772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1800" dirty="0">
                <a:solidFill>
                  <a:srgbClr val="5A5A5C"/>
                </a:solidFill>
                <a:latin typeface="Times New Roman"/>
                <a:ea typeface="Times New Roman"/>
                <a:cs typeface="Times New Roman"/>
                <a:sym typeface="Times New Roman"/>
              </a:rPr>
              <a:t>İbrahim Etem YILMAZ</a:t>
            </a:r>
          </a:p>
          <a:p>
            <a:pPr marL="0" marR="0" lvl="0" indent="0" algn="ctr" rtl="0">
              <a:spcBef>
                <a:spcPts val="0"/>
              </a:spcBef>
              <a:spcAft>
                <a:spcPts val="0"/>
              </a:spcAft>
              <a:buNone/>
            </a:pPr>
            <a:r>
              <a:rPr lang="tr-TR" sz="1800" b="0" i="0" u="none" strike="noStrike" cap="none" dirty="0">
                <a:solidFill>
                  <a:srgbClr val="5A5A5C"/>
                </a:solidFill>
                <a:latin typeface="Times New Roman"/>
                <a:ea typeface="Times New Roman"/>
                <a:cs typeface="Times New Roman"/>
                <a:sym typeface="Times New Roman"/>
              </a:rPr>
              <a:t>Mehmet Akif ŞAKIR</a:t>
            </a:r>
          </a:p>
          <a:p>
            <a:pPr marL="0" marR="0" lvl="0" indent="0" algn="ctr" rtl="0">
              <a:spcBef>
                <a:spcPts val="0"/>
              </a:spcBef>
              <a:spcAft>
                <a:spcPts val="0"/>
              </a:spcAft>
              <a:buNone/>
            </a:pPr>
            <a:r>
              <a:rPr lang="tr-TR" sz="1800" dirty="0">
                <a:solidFill>
                  <a:srgbClr val="5A5A5C"/>
                </a:solidFill>
                <a:latin typeface="Times New Roman"/>
                <a:ea typeface="Times New Roman"/>
                <a:cs typeface="Times New Roman"/>
                <a:sym typeface="Times New Roman"/>
              </a:rPr>
              <a:t>Yasin AŞA</a:t>
            </a:r>
          </a:p>
          <a:p>
            <a:pPr marL="0" marR="0" lvl="0" indent="0" algn="ctr" rtl="0">
              <a:spcBef>
                <a:spcPts val="0"/>
              </a:spcBef>
              <a:spcAft>
                <a:spcPts val="0"/>
              </a:spcAft>
              <a:buNone/>
            </a:pPr>
            <a:r>
              <a:rPr lang="tr-TR" sz="1800" dirty="0">
                <a:solidFill>
                  <a:srgbClr val="5A5A5C"/>
                </a:solidFill>
                <a:latin typeface="Times New Roman"/>
                <a:ea typeface="Times New Roman"/>
                <a:cs typeface="Times New Roman"/>
                <a:sym typeface="Times New Roman"/>
              </a:rPr>
              <a:t>Yaşar Burak ÖZKAYA</a:t>
            </a:r>
          </a:p>
          <a:p>
            <a:pPr marL="0" marR="0" lvl="0" indent="0" algn="ctr" rtl="0">
              <a:spcBef>
                <a:spcPts val="0"/>
              </a:spcBef>
              <a:spcAft>
                <a:spcPts val="0"/>
              </a:spcAft>
              <a:buNone/>
            </a:pPr>
            <a:r>
              <a:rPr lang="tr-TR" sz="1800" b="0" i="0" u="none" strike="noStrike" cap="none" dirty="0">
                <a:solidFill>
                  <a:srgbClr val="5A5A5C"/>
                </a:solidFill>
                <a:latin typeface="Times New Roman"/>
                <a:ea typeface="Times New Roman"/>
                <a:cs typeface="Times New Roman"/>
                <a:sym typeface="Times New Roman"/>
              </a:rPr>
              <a:t>Yusuf ŞAHİN</a:t>
            </a:r>
            <a:endParaRPr sz="1800" b="0" i="0" u="none" strike="noStrike" cap="none" dirty="0">
              <a:solidFill>
                <a:srgbClr val="5A5A5C"/>
              </a:solidFill>
              <a:latin typeface="Times New Roman"/>
              <a:ea typeface="Times New Roman"/>
              <a:cs typeface="Times New Roman"/>
              <a:sym typeface="Times New Roman"/>
            </a:endParaRPr>
          </a:p>
        </p:txBody>
      </p:sp>
      <p:sp>
        <p:nvSpPr>
          <p:cNvPr id="91" name="Google Shape;91;p1"/>
          <p:cNvSpPr/>
          <p:nvPr/>
        </p:nvSpPr>
        <p:spPr>
          <a:xfrm>
            <a:off x="0" y="3493706"/>
            <a:ext cx="12192000" cy="557531"/>
          </a:xfrm>
          <a:prstGeom prst="rect">
            <a:avLst/>
          </a:prstGeom>
          <a:gradFill>
            <a:gsLst>
              <a:gs pos="0">
                <a:srgbClr val="580B02"/>
              </a:gs>
              <a:gs pos="100000">
                <a:srgbClr val="811103">
                  <a:alpha val="2000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48E1DECB-3A6B-415E-FC5E-366305683EFE}"/>
              </a:ext>
            </a:extLst>
          </p:cNvPr>
          <p:cNvSpPr>
            <a:spLocks noGrp="1"/>
          </p:cNvSpPr>
          <p:nvPr>
            <p:ph type="title"/>
          </p:nvPr>
        </p:nvSpPr>
        <p:spPr/>
        <p:txBody>
          <a:bodyPr/>
          <a:lstStyle/>
          <a:p>
            <a:r>
              <a:rPr lang="tr-TR" dirty="0"/>
              <a:t>Giriş</a:t>
            </a:r>
          </a:p>
        </p:txBody>
      </p:sp>
      <p:sp>
        <p:nvSpPr>
          <p:cNvPr id="5" name="Metin Yer Tutucusu 4">
            <a:extLst>
              <a:ext uri="{FF2B5EF4-FFF2-40B4-BE49-F238E27FC236}">
                <a16:creationId xmlns:a16="http://schemas.microsoft.com/office/drawing/2014/main" id="{B585B401-0E67-2DBF-4011-24708F558049}"/>
              </a:ext>
            </a:extLst>
          </p:cNvPr>
          <p:cNvSpPr>
            <a:spLocks noGrp="1"/>
          </p:cNvSpPr>
          <p:nvPr>
            <p:ph type="body" idx="1"/>
          </p:nvPr>
        </p:nvSpPr>
        <p:spPr>
          <a:xfrm>
            <a:off x="838199" y="2713383"/>
            <a:ext cx="4495801" cy="3463580"/>
          </a:xfrm>
        </p:spPr>
        <p:txBody>
          <a:bodyPr>
            <a:normAutofit/>
          </a:bodyPr>
          <a:lstStyle/>
          <a:p>
            <a:pPr marL="114300" indent="0">
              <a:buNone/>
            </a:pPr>
            <a:r>
              <a:rPr lang="tr-TR" sz="1600" dirty="0"/>
              <a:t>Bu projede Boeing 737-600/700 uçaklarında yer alan ve birincil motor parametrelerini göstermekle yükümlü EICAS (Engine </a:t>
            </a:r>
            <a:r>
              <a:rPr lang="tr-TR" sz="1600" dirty="0" err="1"/>
              <a:t>Indicating</a:t>
            </a:r>
            <a:r>
              <a:rPr lang="tr-TR" sz="1600" dirty="0"/>
              <a:t> </a:t>
            </a:r>
            <a:r>
              <a:rPr lang="tr-TR" sz="1600" dirty="0" err="1"/>
              <a:t>and</a:t>
            </a:r>
            <a:r>
              <a:rPr lang="tr-TR" sz="1600" dirty="0"/>
              <a:t> </a:t>
            </a:r>
            <a:r>
              <a:rPr lang="tr-TR" sz="1600" dirty="0" err="1"/>
              <a:t>Crew</a:t>
            </a:r>
            <a:r>
              <a:rPr lang="tr-TR" sz="1600" dirty="0"/>
              <a:t> </a:t>
            </a:r>
            <a:r>
              <a:rPr lang="tr-TR" sz="1600" dirty="0" err="1"/>
              <a:t>Alerting</a:t>
            </a:r>
            <a:r>
              <a:rPr lang="tr-TR" sz="1600" dirty="0"/>
              <a:t> </a:t>
            </a:r>
            <a:r>
              <a:rPr lang="tr-TR" sz="1600" dirty="0" err="1"/>
              <a:t>System</a:t>
            </a:r>
            <a:r>
              <a:rPr lang="tr-TR" sz="1600" dirty="0"/>
              <a:t>) ekranının web tabanlı olarak çalışan ve gerçeği ile birebir aynı görünüşe sahip bir simülasyonunun yapılması hedeflenmiştir.</a:t>
            </a:r>
          </a:p>
        </p:txBody>
      </p:sp>
      <p:pic>
        <p:nvPicPr>
          <p:cNvPr id="7" name="Resim 6">
            <a:extLst>
              <a:ext uri="{FF2B5EF4-FFF2-40B4-BE49-F238E27FC236}">
                <a16:creationId xmlns:a16="http://schemas.microsoft.com/office/drawing/2014/main" id="{49921B20-B133-900E-BD85-A6B60F0AC599}"/>
              </a:ext>
            </a:extLst>
          </p:cNvPr>
          <p:cNvPicPr>
            <a:picLocks noChangeAspect="1"/>
          </p:cNvPicPr>
          <p:nvPr/>
        </p:nvPicPr>
        <p:blipFill>
          <a:blip r:embed="rId2"/>
          <a:stretch>
            <a:fillRect/>
          </a:stretch>
        </p:blipFill>
        <p:spPr>
          <a:xfrm>
            <a:off x="5334000" y="0"/>
            <a:ext cx="6858000" cy="6858000"/>
          </a:xfrm>
          <a:prstGeom prst="rect">
            <a:avLst/>
          </a:prstGeom>
        </p:spPr>
      </p:pic>
    </p:spTree>
    <p:extLst>
      <p:ext uri="{BB962C8B-B14F-4D97-AF65-F5344CB8AC3E}">
        <p14:creationId xmlns:p14="http://schemas.microsoft.com/office/powerpoint/2010/main" val="1569906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4AE902-7E7E-1F28-77EE-28534356AA9D}"/>
              </a:ext>
            </a:extLst>
          </p:cNvPr>
          <p:cNvSpPr>
            <a:spLocks noGrp="1"/>
          </p:cNvSpPr>
          <p:nvPr>
            <p:ph type="title"/>
          </p:nvPr>
        </p:nvSpPr>
        <p:spPr/>
        <p:txBody>
          <a:bodyPr/>
          <a:lstStyle/>
          <a:p>
            <a:r>
              <a:rPr lang="tr-TR" dirty="0"/>
              <a:t>Platform Seçimi</a:t>
            </a:r>
          </a:p>
        </p:txBody>
      </p:sp>
      <p:sp>
        <p:nvSpPr>
          <p:cNvPr id="3" name="Metin Yer Tutucusu 2">
            <a:extLst>
              <a:ext uri="{FF2B5EF4-FFF2-40B4-BE49-F238E27FC236}">
                <a16:creationId xmlns:a16="http://schemas.microsoft.com/office/drawing/2014/main" id="{81E371FE-C6EC-5E25-32A9-BE9DF18E3F16}"/>
              </a:ext>
            </a:extLst>
          </p:cNvPr>
          <p:cNvSpPr>
            <a:spLocks noGrp="1"/>
          </p:cNvSpPr>
          <p:nvPr>
            <p:ph type="body" idx="1"/>
          </p:nvPr>
        </p:nvSpPr>
        <p:spPr>
          <a:xfrm>
            <a:off x="838200" y="2713383"/>
            <a:ext cx="5257800" cy="3463580"/>
          </a:xfrm>
        </p:spPr>
        <p:txBody>
          <a:bodyPr>
            <a:normAutofit/>
          </a:bodyPr>
          <a:lstStyle/>
          <a:p>
            <a:pPr marL="114300" indent="0">
              <a:buNone/>
            </a:pPr>
            <a:r>
              <a:rPr lang="tr-TR" sz="1600" dirty="0"/>
              <a:t>Projeye henüz başlamadan önceki plan Python ile PyQT6 tabanlı bir yapı izlemekti. Ancak daha önce kodlama deneyimi olamayan 5 kişilik bir gruptaki herkesin aynı çalışma ortamını hatasız bir şekilde kurması ve kullanmayı öğrenmesi gerekliliği yüzünden bundan vazgeçildi. Daha sonrasında yapılan araştırmalarda esneklik ve SVG grafikleri üzerinde kolay bir şekilde kontrol sağlayabiliyor olması dolayısıyla HTML5, CSS3 ve JavaScript platformu tercih edildi.</a:t>
            </a:r>
          </a:p>
        </p:txBody>
      </p:sp>
      <p:pic>
        <p:nvPicPr>
          <p:cNvPr id="6" name="Grafik 5">
            <a:extLst>
              <a:ext uri="{FF2B5EF4-FFF2-40B4-BE49-F238E27FC236}">
                <a16:creationId xmlns:a16="http://schemas.microsoft.com/office/drawing/2014/main" id="{9672599E-31DD-7D19-BC39-FAF8BB201F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57677" y="4224616"/>
            <a:ext cx="1800000" cy="1800000"/>
          </a:xfrm>
          <a:prstGeom prst="rect">
            <a:avLst/>
          </a:prstGeom>
        </p:spPr>
      </p:pic>
      <p:pic>
        <p:nvPicPr>
          <p:cNvPr id="8" name="Grafik 7">
            <a:extLst>
              <a:ext uri="{FF2B5EF4-FFF2-40B4-BE49-F238E27FC236}">
                <a16:creationId xmlns:a16="http://schemas.microsoft.com/office/drawing/2014/main" id="{A15C8B1D-AC00-EC19-DBCE-EFD1A2D2D7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57677" y="1307822"/>
            <a:ext cx="1800000" cy="1800000"/>
          </a:xfrm>
          <a:prstGeom prst="rect">
            <a:avLst/>
          </a:prstGeom>
        </p:spPr>
      </p:pic>
      <p:pic>
        <p:nvPicPr>
          <p:cNvPr id="10" name="Grafik 9">
            <a:extLst>
              <a:ext uri="{FF2B5EF4-FFF2-40B4-BE49-F238E27FC236}">
                <a16:creationId xmlns:a16="http://schemas.microsoft.com/office/drawing/2014/main" id="{078361C4-2BEE-C2E0-C137-67218A3708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6204" y="2633385"/>
            <a:ext cx="1800000" cy="1800000"/>
          </a:xfrm>
          <a:prstGeom prst="rect">
            <a:avLst/>
          </a:prstGeom>
        </p:spPr>
      </p:pic>
    </p:spTree>
    <p:extLst>
      <p:ext uri="{BB962C8B-B14F-4D97-AF65-F5344CB8AC3E}">
        <p14:creationId xmlns:p14="http://schemas.microsoft.com/office/powerpoint/2010/main" val="1222424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D62D53B-7467-DA65-1656-47BB7F4B11F7}"/>
              </a:ext>
            </a:extLst>
          </p:cNvPr>
          <p:cNvSpPr>
            <a:spLocks noGrp="1"/>
          </p:cNvSpPr>
          <p:nvPr>
            <p:ph type="title"/>
          </p:nvPr>
        </p:nvSpPr>
        <p:spPr/>
        <p:txBody>
          <a:bodyPr/>
          <a:lstStyle/>
          <a:p>
            <a:r>
              <a:rPr lang="tr-TR" dirty="0"/>
              <a:t>EICAS Ekranının Çizilmesi</a:t>
            </a:r>
          </a:p>
        </p:txBody>
      </p:sp>
      <p:sp>
        <p:nvSpPr>
          <p:cNvPr id="3" name="Metin Yer Tutucusu 2">
            <a:extLst>
              <a:ext uri="{FF2B5EF4-FFF2-40B4-BE49-F238E27FC236}">
                <a16:creationId xmlns:a16="http://schemas.microsoft.com/office/drawing/2014/main" id="{71D5E877-5263-B265-DE41-67E80BA4593E}"/>
              </a:ext>
            </a:extLst>
          </p:cNvPr>
          <p:cNvSpPr>
            <a:spLocks noGrp="1"/>
          </p:cNvSpPr>
          <p:nvPr>
            <p:ph type="body" idx="1"/>
          </p:nvPr>
        </p:nvSpPr>
        <p:spPr/>
        <p:txBody>
          <a:bodyPr>
            <a:normAutofit/>
          </a:bodyPr>
          <a:lstStyle/>
          <a:p>
            <a:pPr marL="114300" indent="0">
              <a:buNone/>
            </a:pPr>
            <a:r>
              <a:rPr lang="tr-TR" sz="1600" dirty="0"/>
              <a:t>Uygulamanın en önemli noktası gerçek EICAS ekranının görünümünü yakalayabilmek olduğu için resmi Flight </a:t>
            </a:r>
            <a:r>
              <a:rPr lang="tr-TR" sz="1600" dirty="0" err="1"/>
              <a:t>Crew</a:t>
            </a:r>
            <a:r>
              <a:rPr lang="tr-TR" sz="1600" dirty="0"/>
              <a:t> Operations dokümanının </a:t>
            </a:r>
            <a:r>
              <a:rPr lang="tr-TR" sz="1600" dirty="0" err="1"/>
              <a:t>Engines</a:t>
            </a:r>
            <a:r>
              <a:rPr lang="tr-TR" sz="1600" dirty="0"/>
              <a:t>, APU bölümünün </a:t>
            </a:r>
            <a:r>
              <a:rPr lang="tr-TR" sz="1600" dirty="0" err="1"/>
              <a:t>Over</a:t>
            </a:r>
            <a:r>
              <a:rPr lang="tr-TR" sz="1600" dirty="0"/>
              <a:t>/Under Displays kısmında, EICAS ekranı görsellerinin yer aldığı sayfalar bir Python </a:t>
            </a:r>
            <a:r>
              <a:rPr lang="tr-TR" sz="1600" dirty="0" err="1"/>
              <a:t>scripti</a:t>
            </a:r>
            <a:r>
              <a:rPr lang="tr-TR" sz="1600" dirty="0"/>
              <a:t> aracılığıyla SVG formatında ayıklandı. SVG; açık kaynaklı, XML tabanlı bir vektörel grafik biçimidir. SVG dosyalarının oluşturulmasında XML işaretleme dili kullanılır ve görüntüler ile davranışları XML metin dosyasında tanımlıdır.</a:t>
            </a:r>
          </a:p>
        </p:txBody>
      </p:sp>
      <p:pic>
        <p:nvPicPr>
          <p:cNvPr id="6" name="Resim 5">
            <a:extLst>
              <a:ext uri="{FF2B5EF4-FFF2-40B4-BE49-F238E27FC236}">
                <a16:creationId xmlns:a16="http://schemas.microsoft.com/office/drawing/2014/main" id="{CF9C4D09-3AE3-7F5E-D1AE-108363B77C4F}"/>
              </a:ext>
            </a:extLst>
          </p:cNvPr>
          <p:cNvPicPr>
            <a:picLocks noChangeAspect="1"/>
          </p:cNvPicPr>
          <p:nvPr/>
        </p:nvPicPr>
        <p:blipFill>
          <a:blip r:embed="rId2"/>
          <a:stretch>
            <a:fillRect/>
          </a:stretch>
        </p:blipFill>
        <p:spPr>
          <a:xfrm>
            <a:off x="6172202" y="2713383"/>
            <a:ext cx="5848147" cy="3217056"/>
          </a:xfrm>
          <a:prstGeom prst="rect">
            <a:avLst/>
          </a:prstGeom>
        </p:spPr>
      </p:pic>
      <p:sp>
        <p:nvSpPr>
          <p:cNvPr id="7" name="Metin kutusu 6">
            <a:extLst>
              <a:ext uri="{FF2B5EF4-FFF2-40B4-BE49-F238E27FC236}">
                <a16:creationId xmlns:a16="http://schemas.microsoft.com/office/drawing/2014/main" id="{87C04387-9FCC-39D5-EB6C-C629B0CDB3D4}"/>
              </a:ext>
            </a:extLst>
          </p:cNvPr>
          <p:cNvSpPr txBox="1"/>
          <p:nvPr/>
        </p:nvSpPr>
        <p:spPr>
          <a:xfrm>
            <a:off x="6172202" y="6010437"/>
            <a:ext cx="5848147" cy="307777"/>
          </a:xfrm>
          <a:prstGeom prst="rect">
            <a:avLst/>
          </a:prstGeom>
          <a:noFill/>
        </p:spPr>
        <p:txBody>
          <a:bodyPr wrap="square" rtlCol="0">
            <a:spAutoFit/>
          </a:bodyPr>
          <a:lstStyle/>
          <a:p>
            <a:pPr algn="ctr"/>
            <a:r>
              <a:rPr lang="tr-TR" i="1" dirty="0">
                <a:solidFill>
                  <a:srgbClr val="0070C0"/>
                </a:solidFill>
                <a:latin typeface="Times New Roman" panose="02020603050405020304" pitchFamily="18" charset="0"/>
                <a:cs typeface="Times New Roman" panose="02020603050405020304" pitchFamily="18" charset="0"/>
              </a:rPr>
              <a:t>SVG formatında ayıklanan sayfalar</a:t>
            </a:r>
          </a:p>
        </p:txBody>
      </p:sp>
    </p:spTree>
    <p:extLst>
      <p:ext uri="{BB962C8B-B14F-4D97-AF65-F5344CB8AC3E}">
        <p14:creationId xmlns:p14="http://schemas.microsoft.com/office/powerpoint/2010/main" val="3316090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FA229-CDBA-5FE8-BFB6-406C5573439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A8755F1-36E4-7471-1FCC-2D8297AD51B7}"/>
              </a:ext>
            </a:extLst>
          </p:cNvPr>
          <p:cNvSpPr>
            <a:spLocks noGrp="1"/>
          </p:cNvSpPr>
          <p:nvPr>
            <p:ph type="title"/>
          </p:nvPr>
        </p:nvSpPr>
        <p:spPr/>
        <p:txBody>
          <a:bodyPr/>
          <a:lstStyle/>
          <a:p>
            <a:r>
              <a:rPr lang="tr-TR" dirty="0"/>
              <a:t>EICAS Ekranının Çizilmesi</a:t>
            </a:r>
          </a:p>
        </p:txBody>
      </p:sp>
      <p:sp>
        <p:nvSpPr>
          <p:cNvPr id="3" name="Metin Yer Tutucusu 2">
            <a:extLst>
              <a:ext uri="{FF2B5EF4-FFF2-40B4-BE49-F238E27FC236}">
                <a16:creationId xmlns:a16="http://schemas.microsoft.com/office/drawing/2014/main" id="{8AEBF28C-A493-A41F-CE3C-EDFE2A8C3A23}"/>
              </a:ext>
            </a:extLst>
          </p:cNvPr>
          <p:cNvSpPr>
            <a:spLocks noGrp="1"/>
          </p:cNvSpPr>
          <p:nvPr>
            <p:ph type="body" idx="1"/>
          </p:nvPr>
        </p:nvSpPr>
        <p:spPr/>
        <p:txBody>
          <a:bodyPr>
            <a:normAutofit/>
          </a:bodyPr>
          <a:lstStyle/>
          <a:p>
            <a:pPr marL="114300" indent="0">
              <a:buNone/>
            </a:pPr>
            <a:r>
              <a:rPr lang="tr-TR" sz="1600" dirty="0"/>
              <a:t>Bu aşamada elde edilen ham SVG dosyası, ilgili sayfadaki tüm yazıların ve teknik çizimlerin bir bütünü halindedir. Ancak bu ham çıktı doğrudan kullanılabilecek nitelikte değildir; zira bu SVG içerisinde yer alan teknik çizimler onlarca birbirinden bağımsız yol (</a:t>
            </a:r>
            <a:r>
              <a:rPr lang="tr-TR" sz="1600" dirty="0" err="1"/>
              <a:t>path</a:t>
            </a:r>
            <a:r>
              <a:rPr lang="tr-TR" sz="1600" dirty="0"/>
              <a:t>) ve düğüm (</a:t>
            </a:r>
            <a:r>
              <a:rPr lang="tr-TR" sz="1600" dirty="0" err="1"/>
              <a:t>node</a:t>
            </a:r>
            <a:r>
              <a:rPr lang="tr-TR" sz="1600" dirty="0"/>
              <a:t>) içermekte, anlamlı gruplamalar ya da ID atamaları içermemektedir.</a:t>
            </a:r>
          </a:p>
        </p:txBody>
      </p:sp>
      <p:pic>
        <p:nvPicPr>
          <p:cNvPr id="5" name="Resim 4">
            <a:extLst>
              <a:ext uri="{FF2B5EF4-FFF2-40B4-BE49-F238E27FC236}">
                <a16:creationId xmlns:a16="http://schemas.microsoft.com/office/drawing/2014/main" id="{A8074DF3-1D8F-F70D-4245-08534589A71A}"/>
              </a:ext>
            </a:extLst>
          </p:cNvPr>
          <p:cNvPicPr>
            <a:picLocks noChangeAspect="1"/>
          </p:cNvPicPr>
          <p:nvPr/>
        </p:nvPicPr>
        <p:blipFill>
          <a:blip r:embed="rId2"/>
          <a:stretch>
            <a:fillRect/>
          </a:stretch>
        </p:blipFill>
        <p:spPr>
          <a:xfrm>
            <a:off x="6172202" y="2633385"/>
            <a:ext cx="5400000" cy="4073143"/>
          </a:xfrm>
          <a:prstGeom prst="rect">
            <a:avLst/>
          </a:prstGeom>
        </p:spPr>
      </p:pic>
    </p:spTree>
    <p:extLst>
      <p:ext uri="{BB962C8B-B14F-4D97-AF65-F5344CB8AC3E}">
        <p14:creationId xmlns:p14="http://schemas.microsoft.com/office/powerpoint/2010/main" val="2132291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73B2A-A98E-AF36-DCE0-765646EBAE5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3FCCC75-3F5E-664A-BB4D-471D4BFAD25F}"/>
              </a:ext>
            </a:extLst>
          </p:cNvPr>
          <p:cNvSpPr>
            <a:spLocks noGrp="1"/>
          </p:cNvSpPr>
          <p:nvPr>
            <p:ph type="title"/>
          </p:nvPr>
        </p:nvSpPr>
        <p:spPr/>
        <p:txBody>
          <a:bodyPr/>
          <a:lstStyle/>
          <a:p>
            <a:r>
              <a:rPr lang="tr-TR" dirty="0"/>
              <a:t>EICAS Ekranının Çizilmesi</a:t>
            </a:r>
          </a:p>
        </p:txBody>
      </p:sp>
      <p:sp>
        <p:nvSpPr>
          <p:cNvPr id="3" name="Metin Yer Tutucusu 2">
            <a:extLst>
              <a:ext uri="{FF2B5EF4-FFF2-40B4-BE49-F238E27FC236}">
                <a16:creationId xmlns:a16="http://schemas.microsoft.com/office/drawing/2014/main" id="{0FCD5A0B-C8BB-E551-1C94-3429827BAD1D}"/>
              </a:ext>
            </a:extLst>
          </p:cNvPr>
          <p:cNvSpPr>
            <a:spLocks noGrp="1"/>
          </p:cNvSpPr>
          <p:nvPr>
            <p:ph type="body" idx="1"/>
          </p:nvPr>
        </p:nvSpPr>
        <p:spPr>
          <a:xfrm>
            <a:off x="838200" y="2713383"/>
            <a:ext cx="3792166" cy="3463580"/>
          </a:xfrm>
        </p:spPr>
        <p:txBody>
          <a:bodyPr>
            <a:normAutofit/>
          </a:bodyPr>
          <a:lstStyle/>
          <a:p>
            <a:pPr marL="114300" indent="0" algn="just">
              <a:buNone/>
            </a:pPr>
            <a:r>
              <a:rPr lang="tr-TR" sz="1600" dirty="0"/>
              <a:t>Bu sorunun üstesinden gelmek için açık kaynaklı vektör çizim uygulaması olan </a:t>
            </a:r>
            <a:r>
              <a:rPr lang="tr-TR" sz="1600" dirty="0" err="1"/>
              <a:t>Inkscape</a:t>
            </a:r>
            <a:r>
              <a:rPr lang="tr-TR" sz="1600" dirty="0"/>
              <a:t> kullanılarak sayfalardan kırpılan EICAS ekranı görüntüleri bir maske katmanı olarak kullanılmış ve bu katmanın üstüne eklenen boş bir katman üzerine sıfırdan ve tüm yollar tek parça halinde olacak şekilde yeniden çizilmiştir.</a:t>
            </a:r>
          </a:p>
        </p:txBody>
      </p:sp>
      <p:pic>
        <p:nvPicPr>
          <p:cNvPr id="6" name="Resim 5">
            <a:extLst>
              <a:ext uri="{FF2B5EF4-FFF2-40B4-BE49-F238E27FC236}">
                <a16:creationId xmlns:a16="http://schemas.microsoft.com/office/drawing/2014/main" id="{815AC2DC-617D-52BE-5DBE-D7FC8B210264}"/>
              </a:ext>
            </a:extLst>
          </p:cNvPr>
          <p:cNvPicPr>
            <a:picLocks noChangeAspect="1"/>
          </p:cNvPicPr>
          <p:nvPr/>
        </p:nvPicPr>
        <p:blipFill>
          <a:blip r:embed="rId2"/>
          <a:stretch>
            <a:fillRect/>
          </a:stretch>
        </p:blipFill>
        <p:spPr>
          <a:xfrm>
            <a:off x="4883284" y="2713383"/>
            <a:ext cx="6948791" cy="3727737"/>
          </a:xfrm>
          <a:prstGeom prst="rect">
            <a:avLst/>
          </a:prstGeom>
        </p:spPr>
      </p:pic>
    </p:spTree>
    <p:extLst>
      <p:ext uri="{BB962C8B-B14F-4D97-AF65-F5344CB8AC3E}">
        <p14:creationId xmlns:p14="http://schemas.microsoft.com/office/powerpoint/2010/main" val="964130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73352-7453-15BB-EA0B-4EAC7B08E19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E237EC5-2CF9-D3ED-CD67-1593F2FE758F}"/>
              </a:ext>
            </a:extLst>
          </p:cNvPr>
          <p:cNvSpPr>
            <a:spLocks noGrp="1"/>
          </p:cNvSpPr>
          <p:nvPr>
            <p:ph type="title"/>
          </p:nvPr>
        </p:nvSpPr>
        <p:spPr/>
        <p:txBody>
          <a:bodyPr/>
          <a:lstStyle/>
          <a:p>
            <a:r>
              <a:rPr lang="tr-TR" dirty="0"/>
              <a:t>EICAS Ekranının Çizilmesi</a:t>
            </a:r>
          </a:p>
        </p:txBody>
      </p:sp>
      <p:sp>
        <p:nvSpPr>
          <p:cNvPr id="3" name="Metin Yer Tutucusu 2">
            <a:extLst>
              <a:ext uri="{FF2B5EF4-FFF2-40B4-BE49-F238E27FC236}">
                <a16:creationId xmlns:a16="http://schemas.microsoft.com/office/drawing/2014/main" id="{D287BE9F-6451-869B-C77F-22B6AE88423C}"/>
              </a:ext>
            </a:extLst>
          </p:cNvPr>
          <p:cNvSpPr>
            <a:spLocks noGrp="1"/>
          </p:cNvSpPr>
          <p:nvPr>
            <p:ph type="body" idx="1"/>
          </p:nvPr>
        </p:nvSpPr>
        <p:spPr/>
        <p:txBody>
          <a:bodyPr>
            <a:normAutofit/>
          </a:bodyPr>
          <a:lstStyle/>
          <a:p>
            <a:pPr marL="114300" indent="0" algn="just">
              <a:buNone/>
            </a:pPr>
            <a:r>
              <a:rPr lang="tr-TR" sz="1600" dirty="0"/>
              <a:t>Çizim işlemi tamamlandıktan sonra JavaScript kodu tarafından dinamik olarak değiştirilecek tüm SVG öğelerine (ibreler, metin alanları, uyarı kutuları, yakıt barları, mod göstergeleri) anlamlı ve benzersiz </a:t>
            </a:r>
            <a:r>
              <a:rPr lang="tr-TR" sz="1600" dirty="0" err="1"/>
              <a:t>ID’ler</a:t>
            </a:r>
            <a:r>
              <a:rPr lang="tr-TR" sz="1600" dirty="0"/>
              <a:t> atanmıştır.</a:t>
            </a:r>
          </a:p>
        </p:txBody>
      </p:sp>
      <p:pic>
        <p:nvPicPr>
          <p:cNvPr id="12" name="Resim 11">
            <a:extLst>
              <a:ext uri="{FF2B5EF4-FFF2-40B4-BE49-F238E27FC236}">
                <a16:creationId xmlns:a16="http://schemas.microsoft.com/office/drawing/2014/main" id="{3717238D-F44A-3FDA-FBD1-5310CB4FEBC1}"/>
              </a:ext>
            </a:extLst>
          </p:cNvPr>
          <p:cNvPicPr>
            <a:picLocks noChangeAspect="1"/>
          </p:cNvPicPr>
          <p:nvPr/>
        </p:nvPicPr>
        <p:blipFill>
          <a:blip r:embed="rId2"/>
          <a:stretch>
            <a:fillRect/>
          </a:stretch>
        </p:blipFill>
        <p:spPr>
          <a:xfrm>
            <a:off x="6172202" y="2713383"/>
            <a:ext cx="5400000" cy="3139910"/>
          </a:xfrm>
          <a:prstGeom prst="rect">
            <a:avLst/>
          </a:prstGeom>
        </p:spPr>
      </p:pic>
      <p:sp>
        <p:nvSpPr>
          <p:cNvPr id="13" name="Metin kutusu 12">
            <a:extLst>
              <a:ext uri="{FF2B5EF4-FFF2-40B4-BE49-F238E27FC236}">
                <a16:creationId xmlns:a16="http://schemas.microsoft.com/office/drawing/2014/main" id="{0B684E48-87DB-3509-585B-8601D6AC9284}"/>
              </a:ext>
            </a:extLst>
          </p:cNvPr>
          <p:cNvSpPr txBox="1"/>
          <p:nvPr/>
        </p:nvSpPr>
        <p:spPr>
          <a:xfrm>
            <a:off x="6172202" y="5933291"/>
            <a:ext cx="5400000" cy="307777"/>
          </a:xfrm>
          <a:prstGeom prst="rect">
            <a:avLst/>
          </a:prstGeom>
          <a:noFill/>
        </p:spPr>
        <p:txBody>
          <a:bodyPr wrap="square" rtlCol="0">
            <a:spAutoFit/>
          </a:bodyPr>
          <a:lstStyle/>
          <a:p>
            <a:pPr algn="ctr"/>
            <a:r>
              <a:rPr lang="tr-TR" i="1" dirty="0">
                <a:solidFill>
                  <a:srgbClr val="0070C0"/>
                </a:solidFill>
                <a:latin typeface="Times New Roman" panose="02020603050405020304" pitchFamily="18" charset="0"/>
                <a:cs typeface="Times New Roman" panose="02020603050405020304" pitchFamily="18" charset="0"/>
              </a:rPr>
              <a:t>SVG </a:t>
            </a:r>
            <a:r>
              <a:rPr lang="tr-TR" i="1" dirty="0" err="1">
                <a:solidFill>
                  <a:srgbClr val="0070C0"/>
                </a:solidFill>
                <a:latin typeface="Times New Roman" panose="02020603050405020304" pitchFamily="18" charset="0"/>
                <a:cs typeface="Times New Roman" panose="02020603050405020304" pitchFamily="18" charset="0"/>
              </a:rPr>
              <a:t>ID’leri</a:t>
            </a:r>
            <a:endParaRPr lang="tr-TR" i="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52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B75ECC4-3DFB-EF39-31C1-9E1FB0EC4502}"/>
              </a:ext>
            </a:extLst>
          </p:cNvPr>
          <p:cNvSpPr>
            <a:spLocks noGrp="1"/>
          </p:cNvSpPr>
          <p:nvPr>
            <p:ph type="title"/>
          </p:nvPr>
        </p:nvSpPr>
        <p:spPr/>
        <p:txBody>
          <a:bodyPr/>
          <a:lstStyle/>
          <a:p>
            <a:r>
              <a:rPr lang="tr-TR" dirty="0"/>
              <a:t>HTML Kodu</a:t>
            </a:r>
          </a:p>
        </p:txBody>
      </p:sp>
      <p:sp>
        <p:nvSpPr>
          <p:cNvPr id="3" name="Metin Yer Tutucusu 2">
            <a:extLst>
              <a:ext uri="{FF2B5EF4-FFF2-40B4-BE49-F238E27FC236}">
                <a16:creationId xmlns:a16="http://schemas.microsoft.com/office/drawing/2014/main" id="{1F63783E-EB98-9F5C-2ACB-1A43F151832A}"/>
              </a:ext>
            </a:extLst>
          </p:cNvPr>
          <p:cNvSpPr>
            <a:spLocks noGrp="1"/>
          </p:cNvSpPr>
          <p:nvPr>
            <p:ph type="body" idx="1"/>
          </p:nvPr>
        </p:nvSpPr>
        <p:spPr/>
        <p:txBody>
          <a:bodyPr>
            <a:normAutofit/>
          </a:bodyPr>
          <a:lstStyle/>
          <a:p>
            <a:pPr marL="114300" indent="0">
              <a:buNone/>
            </a:pPr>
            <a:r>
              <a:rPr lang="tr-TR" sz="1600" dirty="0"/>
              <a:t>HTML, web sayfalarını oluşturmak için kullanılan standart metin işaretleme dilidir. HTML, bir programlama dili olarak tanımlanamaz. Çünkü HTML kodlarıyla kendi başına çalışan bir program yazılamaz. Fakat bu dili yorumlayabilen programlar aracılığıyla çalışabilen programlar yazılabilir. </a:t>
            </a:r>
          </a:p>
        </p:txBody>
      </p:sp>
      <p:pic>
        <p:nvPicPr>
          <p:cNvPr id="6" name="Resim 5">
            <a:extLst>
              <a:ext uri="{FF2B5EF4-FFF2-40B4-BE49-F238E27FC236}">
                <a16:creationId xmlns:a16="http://schemas.microsoft.com/office/drawing/2014/main" id="{DF0C52A3-ECD2-359C-5393-63A431E3B56B}"/>
              </a:ext>
            </a:extLst>
          </p:cNvPr>
          <p:cNvPicPr>
            <a:picLocks noChangeAspect="1"/>
          </p:cNvPicPr>
          <p:nvPr/>
        </p:nvPicPr>
        <p:blipFill>
          <a:blip r:embed="rId2"/>
          <a:stretch>
            <a:fillRect/>
          </a:stretch>
        </p:blipFill>
        <p:spPr>
          <a:xfrm>
            <a:off x="6172202" y="2713383"/>
            <a:ext cx="5400000" cy="3411502"/>
          </a:xfrm>
          <a:prstGeom prst="rect">
            <a:avLst/>
          </a:prstGeom>
        </p:spPr>
      </p:pic>
    </p:spTree>
    <p:extLst>
      <p:ext uri="{BB962C8B-B14F-4D97-AF65-F5344CB8AC3E}">
        <p14:creationId xmlns:p14="http://schemas.microsoft.com/office/powerpoint/2010/main" val="114454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558A-CC14-13A2-49E6-86423FC4229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4EE62C3-F4F8-5FB1-A350-CC55B35912C1}"/>
              </a:ext>
            </a:extLst>
          </p:cNvPr>
          <p:cNvSpPr>
            <a:spLocks noGrp="1"/>
          </p:cNvSpPr>
          <p:nvPr>
            <p:ph type="title"/>
          </p:nvPr>
        </p:nvSpPr>
        <p:spPr/>
        <p:txBody>
          <a:bodyPr/>
          <a:lstStyle/>
          <a:p>
            <a:r>
              <a:rPr lang="tr-TR" dirty="0"/>
              <a:t>HTML Kodu</a:t>
            </a:r>
          </a:p>
        </p:txBody>
      </p:sp>
      <p:sp>
        <p:nvSpPr>
          <p:cNvPr id="3" name="Metin Yer Tutucusu 2">
            <a:extLst>
              <a:ext uri="{FF2B5EF4-FFF2-40B4-BE49-F238E27FC236}">
                <a16:creationId xmlns:a16="http://schemas.microsoft.com/office/drawing/2014/main" id="{BB4051AF-C17D-7AA1-758C-8867F3FEE635}"/>
              </a:ext>
            </a:extLst>
          </p:cNvPr>
          <p:cNvSpPr>
            <a:spLocks noGrp="1"/>
          </p:cNvSpPr>
          <p:nvPr>
            <p:ph type="body" idx="1"/>
          </p:nvPr>
        </p:nvSpPr>
        <p:spPr/>
        <p:txBody>
          <a:bodyPr>
            <a:normAutofit/>
          </a:bodyPr>
          <a:lstStyle/>
          <a:p>
            <a:pPr marL="114300" indent="0">
              <a:buNone/>
            </a:pPr>
            <a:r>
              <a:rPr lang="tr-TR" sz="1600" dirty="0"/>
              <a:t>HTML kodu; arayüz öğelerinin ekrandaki yerleşimlerini ve temel özelliklerini tanımlar, SVG formatındaki EICAS ekranına ait XML kodlarını '</a:t>
            </a:r>
            <a:r>
              <a:rPr lang="tr-TR" sz="1600" dirty="0" err="1"/>
              <a:t>Inline</a:t>
            </a:r>
            <a:r>
              <a:rPr lang="tr-TR" sz="1600" dirty="0"/>
              <a:t> SVG' olarak barındırır ve kontrol panelindeki elemanları '</a:t>
            </a:r>
            <a:r>
              <a:rPr lang="tr-TR" sz="1600" dirty="0" err="1"/>
              <a:t>onclick</a:t>
            </a:r>
            <a:r>
              <a:rPr lang="tr-TR" sz="1600" dirty="0"/>
              <a:t>' gibi olay işleyici (</a:t>
            </a:r>
            <a:r>
              <a:rPr lang="tr-TR" sz="1600" dirty="0" err="1"/>
              <a:t>event</a:t>
            </a:r>
            <a:r>
              <a:rPr lang="tr-TR" sz="1600" dirty="0"/>
              <a:t> </a:t>
            </a:r>
            <a:r>
              <a:rPr lang="tr-TR" sz="1600" dirty="0" err="1"/>
              <a:t>handler</a:t>
            </a:r>
            <a:r>
              <a:rPr lang="tr-TR" sz="1600" dirty="0"/>
              <a:t>) nitelikleri üzerinden JavaScript koduna bağlar.</a:t>
            </a:r>
          </a:p>
        </p:txBody>
      </p:sp>
      <p:pic>
        <p:nvPicPr>
          <p:cNvPr id="8" name="Resim 7">
            <a:extLst>
              <a:ext uri="{FF2B5EF4-FFF2-40B4-BE49-F238E27FC236}">
                <a16:creationId xmlns:a16="http://schemas.microsoft.com/office/drawing/2014/main" id="{C25315E1-AE8E-1CFA-1599-A5D2D4C157E5}"/>
              </a:ext>
            </a:extLst>
          </p:cNvPr>
          <p:cNvPicPr>
            <a:picLocks noChangeAspect="1"/>
          </p:cNvPicPr>
          <p:nvPr/>
        </p:nvPicPr>
        <p:blipFill>
          <a:blip r:embed="rId2"/>
          <a:stretch>
            <a:fillRect/>
          </a:stretch>
        </p:blipFill>
        <p:spPr>
          <a:xfrm>
            <a:off x="6172202" y="2713383"/>
            <a:ext cx="5400000" cy="2899716"/>
          </a:xfrm>
          <a:prstGeom prst="rect">
            <a:avLst/>
          </a:prstGeom>
        </p:spPr>
      </p:pic>
      <p:sp>
        <p:nvSpPr>
          <p:cNvPr id="9" name="Metin kutusu 8">
            <a:extLst>
              <a:ext uri="{FF2B5EF4-FFF2-40B4-BE49-F238E27FC236}">
                <a16:creationId xmlns:a16="http://schemas.microsoft.com/office/drawing/2014/main" id="{F4A59FE8-3AA9-DB40-7E12-485AC0C4EB16}"/>
              </a:ext>
            </a:extLst>
          </p:cNvPr>
          <p:cNvSpPr txBox="1"/>
          <p:nvPr/>
        </p:nvSpPr>
        <p:spPr>
          <a:xfrm>
            <a:off x="6172202" y="5693097"/>
            <a:ext cx="5400000" cy="307777"/>
          </a:xfrm>
          <a:prstGeom prst="rect">
            <a:avLst/>
          </a:prstGeom>
          <a:noFill/>
        </p:spPr>
        <p:txBody>
          <a:bodyPr wrap="square" rtlCol="0">
            <a:spAutoFit/>
          </a:bodyPr>
          <a:lstStyle/>
          <a:p>
            <a:pPr algn="ctr"/>
            <a:r>
              <a:rPr lang="tr-TR" i="1" dirty="0" err="1">
                <a:solidFill>
                  <a:srgbClr val="0070C0"/>
                </a:solidFill>
                <a:latin typeface="Times New Roman" panose="02020603050405020304" pitchFamily="18" charset="0"/>
                <a:cs typeface="Times New Roman" panose="02020603050405020304" pitchFamily="18" charset="0"/>
              </a:rPr>
              <a:t>Inline</a:t>
            </a:r>
            <a:r>
              <a:rPr lang="tr-TR" i="1" dirty="0">
                <a:solidFill>
                  <a:srgbClr val="0070C0"/>
                </a:solidFill>
                <a:latin typeface="Times New Roman" panose="02020603050405020304" pitchFamily="18" charset="0"/>
                <a:cs typeface="Times New Roman" panose="02020603050405020304" pitchFamily="18" charset="0"/>
              </a:rPr>
              <a:t> SVG</a:t>
            </a:r>
          </a:p>
        </p:txBody>
      </p:sp>
    </p:spTree>
    <p:extLst>
      <p:ext uri="{BB962C8B-B14F-4D97-AF65-F5344CB8AC3E}">
        <p14:creationId xmlns:p14="http://schemas.microsoft.com/office/powerpoint/2010/main" val="4145483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4F277E-1F96-C528-FC77-09E861213701}"/>
              </a:ext>
            </a:extLst>
          </p:cNvPr>
          <p:cNvSpPr>
            <a:spLocks noGrp="1"/>
          </p:cNvSpPr>
          <p:nvPr>
            <p:ph type="title"/>
          </p:nvPr>
        </p:nvSpPr>
        <p:spPr/>
        <p:txBody>
          <a:bodyPr/>
          <a:lstStyle/>
          <a:p>
            <a:r>
              <a:rPr lang="tr-TR" dirty="0" err="1"/>
              <a:t>Inline</a:t>
            </a:r>
            <a:r>
              <a:rPr lang="tr-TR" dirty="0"/>
              <a:t> SVG Kullanımının Avantajları</a:t>
            </a:r>
          </a:p>
        </p:txBody>
      </p:sp>
      <p:sp>
        <p:nvSpPr>
          <p:cNvPr id="3" name="Metin Yer Tutucusu 2">
            <a:extLst>
              <a:ext uri="{FF2B5EF4-FFF2-40B4-BE49-F238E27FC236}">
                <a16:creationId xmlns:a16="http://schemas.microsoft.com/office/drawing/2014/main" id="{C91D2721-B757-8A06-8380-62D9E6355458}"/>
              </a:ext>
            </a:extLst>
          </p:cNvPr>
          <p:cNvSpPr>
            <a:spLocks noGrp="1"/>
          </p:cNvSpPr>
          <p:nvPr>
            <p:ph type="body" idx="1"/>
          </p:nvPr>
        </p:nvSpPr>
        <p:spPr/>
        <p:txBody>
          <a:bodyPr>
            <a:normAutofit/>
          </a:bodyPr>
          <a:lstStyle/>
          <a:p>
            <a:pPr marL="114300" indent="0">
              <a:buNone/>
            </a:pPr>
            <a:r>
              <a:rPr lang="tr-TR" sz="1600" dirty="0" err="1"/>
              <a:t>Inline</a:t>
            </a:r>
            <a:r>
              <a:rPr lang="tr-TR" sz="1600" dirty="0"/>
              <a:t> SVG yönteminin harici SVG dosyası yöntemine kıyasla sunduğu avantajlar şunlardır:</a:t>
            </a:r>
          </a:p>
          <a:p>
            <a:r>
              <a:rPr lang="tr-TR" sz="1600" b="1" dirty="0"/>
              <a:t>Doğrudan DOM erişimi: </a:t>
            </a:r>
            <a:r>
              <a:rPr lang="tr-TR" sz="1600" dirty="0"/>
              <a:t>JavaScript, </a:t>
            </a:r>
            <a:r>
              <a:rPr lang="tr-TR" sz="1400" dirty="0" err="1">
                <a:latin typeface="Consolas" panose="020B0609020204030204" pitchFamily="49" charset="0"/>
              </a:rPr>
              <a:t>document.getElementById</a:t>
            </a:r>
            <a:r>
              <a:rPr lang="tr-TR" sz="1400" dirty="0">
                <a:latin typeface="Consolas" panose="020B0609020204030204" pitchFamily="49" charset="0"/>
              </a:rPr>
              <a:t>()</a:t>
            </a:r>
            <a:r>
              <a:rPr lang="tr-TR" sz="1600" dirty="0">
                <a:latin typeface="Consolas" panose="020B0609020204030204" pitchFamily="49" charset="0"/>
              </a:rPr>
              <a:t> </a:t>
            </a:r>
            <a:r>
              <a:rPr lang="tr-TR" sz="1600" dirty="0"/>
              <a:t>ile SVG öğelerine doğrudan erişebilmektedir.</a:t>
            </a:r>
          </a:p>
          <a:p>
            <a:r>
              <a:rPr lang="tr-TR" sz="1600" b="1" dirty="0"/>
              <a:t>CSS entegrasyonu: </a:t>
            </a:r>
            <a:r>
              <a:rPr lang="tr-TR" sz="1600" dirty="0"/>
              <a:t>SVG öğeleri, aynı HTML öğeleri gibi style.css dosyasındaki kurallardan etkilenebilmektedir.</a:t>
            </a:r>
          </a:p>
          <a:p>
            <a:r>
              <a:rPr lang="tr-TR" sz="1600" b="1" dirty="0"/>
              <a:t>Animasyon desteği: </a:t>
            </a:r>
            <a:r>
              <a:rPr lang="tr-TR" sz="1600" dirty="0"/>
              <a:t>CSS </a:t>
            </a:r>
            <a:r>
              <a:rPr lang="tr-TR" sz="1400" dirty="0">
                <a:latin typeface="Consolas" panose="020B0609020204030204" pitchFamily="49" charset="0"/>
              </a:rPr>
              <a:t>@keyframes </a:t>
            </a:r>
            <a:r>
              <a:rPr lang="tr-TR" sz="1600" dirty="0"/>
              <a:t>animasyonları ve JavaScript tarafından uygulanan </a:t>
            </a:r>
            <a:r>
              <a:rPr lang="tr-TR" sz="1400" dirty="0" err="1">
                <a:latin typeface="Consolas" panose="020B0609020204030204" pitchFamily="49" charset="0"/>
              </a:rPr>
              <a:t>transform</a:t>
            </a:r>
            <a:r>
              <a:rPr lang="tr-TR" sz="1600" dirty="0"/>
              <a:t> stilleri, SVG öğelerine kısıtlama olmaksızın uygulanır.</a:t>
            </a:r>
            <a:endParaRPr lang="tr-TR" sz="1000" dirty="0"/>
          </a:p>
        </p:txBody>
      </p:sp>
      <p:pic>
        <p:nvPicPr>
          <p:cNvPr id="5" name="Resim 4">
            <a:extLst>
              <a:ext uri="{FF2B5EF4-FFF2-40B4-BE49-F238E27FC236}">
                <a16:creationId xmlns:a16="http://schemas.microsoft.com/office/drawing/2014/main" id="{3F3F7A3A-2206-D47B-8B30-408725FBAACE}"/>
              </a:ext>
            </a:extLst>
          </p:cNvPr>
          <p:cNvPicPr>
            <a:picLocks noChangeAspect="1"/>
          </p:cNvPicPr>
          <p:nvPr/>
        </p:nvPicPr>
        <p:blipFill>
          <a:blip r:embed="rId2"/>
          <a:srcRect t="33491" b="3519"/>
          <a:stretch>
            <a:fillRect/>
          </a:stretch>
        </p:blipFill>
        <p:spPr>
          <a:xfrm>
            <a:off x="6172202" y="2713383"/>
            <a:ext cx="5400000" cy="3035663"/>
          </a:xfrm>
          <a:prstGeom prst="rect">
            <a:avLst/>
          </a:prstGeom>
        </p:spPr>
      </p:pic>
      <p:sp>
        <p:nvSpPr>
          <p:cNvPr id="6" name="Metin kutusu 5">
            <a:extLst>
              <a:ext uri="{FF2B5EF4-FFF2-40B4-BE49-F238E27FC236}">
                <a16:creationId xmlns:a16="http://schemas.microsoft.com/office/drawing/2014/main" id="{AE868511-7296-8FCD-E56F-987595CC3C73}"/>
              </a:ext>
            </a:extLst>
          </p:cNvPr>
          <p:cNvSpPr txBox="1"/>
          <p:nvPr/>
        </p:nvSpPr>
        <p:spPr>
          <a:xfrm>
            <a:off x="6172202" y="5826868"/>
            <a:ext cx="5400000" cy="307777"/>
          </a:xfrm>
          <a:prstGeom prst="rect">
            <a:avLst/>
          </a:prstGeom>
          <a:noFill/>
        </p:spPr>
        <p:txBody>
          <a:bodyPr wrap="square" rtlCol="0">
            <a:spAutoFit/>
          </a:bodyPr>
          <a:lstStyle/>
          <a:p>
            <a:pPr algn="ctr"/>
            <a:r>
              <a:rPr lang="tr-TR" i="1" dirty="0">
                <a:solidFill>
                  <a:srgbClr val="0070C0"/>
                </a:solidFill>
                <a:latin typeface="Times New Roman" panose="02020603050405020304" pitchFamily="18" charset="0"/>
                <a:cs typeface="Times New Roman" panose="02020603050405020304" pitchFamily="18" charset="0"/>
              </a:rPr>
              <a:t>JS Kodundan SVG Öğelerine DOM erişimi</a:t>
            </a:r>
          </a:p>
        </p:txBody>
      </p:sp>
    </p:spTree>
    <p:extLst>
      <p:ext uri="{BB962C8B-B14F-4D97-AF65-F5344CB8AC3E}">
        <p14:creationId xmlns:p14="http://schemas.microsoft.com/office/powerpoint/2010/main" val="3997737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83EC75-2773-C8C6-9523-10E8DF633B1D}"/>
              </a:ext>
            </a:extLst>
          </p:cNvPr>
          <p:cNvSpPr>
            <a:spLocks noGrp="1"/>
          </p:cNvSpPr>
          <p:nvPr>
            <p:ph type="title"/>
          </p:nvPr>
        </p:nvSpPr>
        <p:spPr/>
        <p:txBody>
          <a:bodyPr/>
          <a:lstStyle/>
          <a:p>
            <a:r>
              <a:rPr lang="tr-TR" dirty="0"/>
              <a:t>CSS Kodu</a:t>
            </a:r>
          </a:p>
        </p:txBody>
      </p:sp>
      <p:sp>
        <p:nvSpPr>
          <p:cNvPr id="3" name="Metin Yer Tutucusu 2">
            <a:extLst>
              <a:ext uri="{FF2B5EF4-FFF2-40B4-BE49-F238E27FC236}">
                <a16:creationId xmlns:a16="http://schemas.microsoft.com/office/drawing/2014/main" id="{A20C9E0C-0EE8-D391-F14D-B9D6E46D7EEE}"/>
              </a:ext>
            </a:extLst>
          </p:cNvPr>
          <p:cNvSpPr>
            <a:spLocks noGrp="1"/>
          </p:cNvSpPr>
          <p:nvPr>
            <p:ph type="body" idx="1"/>
          </p:nvPr>
        </p:nvSpPr>
        <p:spPr/>
        <p:txBody>
          <a:bodyPr>
            <a:normAutofit/>
          </a:bodyPr>
          <a:lstStyle/>
          <a:p>
            <a:pPr marL="114300" indent="0">
              <a:buNone/>
            </a:pPr>
            <a:r>
              <a:rPr lang="tr-TR" sz="1600" dirty="0" err="1"/>
              <a:t>Cascading</a:t>
            </a:r>
            <a:r>
              <a:rPr lang="tr-TR" sz="1600" dirty="0"/>
              <a:t> Style </a:t>
            </a:r>
            <a:r>
              <a:rPr lang="tr-TR" sz="1600" dirty="0" err="1"/>
              <a:t>Sheets</a:t>
            </a:r>
            <a:r>
              <a:rPr lang="tr-TR" sz="1600" dirty="0"/>
              <a:t> (Basamaklı Stil Şablonları ya da Basamaklı Biçim Sayfaları, bilinen kısa adıyla CSS), </a:t>
            </a:r>
            <a:r>
              <a:rPr lang="tr-TR" sz="1600" dirty="0" err="1"/>
              <a:t>HTML'e</a:t>
            </a:r>
            <a:r>
              <a:rPr lang="tr-TR" sz="1600" dirty="0"/>
              <a:t> ek olarak metin ve format biçimlendirme alanında fazladan olanaklar sunan bir işaretleme dilidir. </a:t>
            </a:r>
          </a:p>
          <a:p>
            <a:pPr marL="114300" indent="0">
              <a:buNone/>
            </a:pPr>
            <a:r>
              <a:rPr lang="tr-TR" sz="1600" dirty="0"/>
              <a:t>İnternet sayfaları için </a:t>
            </a:r>
            <a:r>
              <a:rPr lang="tr-TR" sz="1600" dirty="0" err="1"/>
              <a:t>genelgeçer</a:t>
            </a:r>
            <a:r>
              <a:rPr lang="tr-TR" sz="1600" dirty="0"/>
              <a:t> şablonlar hazırlama olanağı verdiği gibi, bağımsız olarak harflerin stilini, yani renk, yazı tipi, büyüklük gibi özelliklerini değiştirmek için de kullanılabilir. Bu tekniğin en önemli özelliği kullanımındaki esnekliktir.</a:t>
            </a:r>
          </a:p>
        </p:txBody>
      </p:sp>
      <p:pic>
        <p:nvPicPr>
          <p:cNvPr id="6" name="Resim 5">
            <a:extLst>
              <a:ext uri="{FF2B5EF4-FFF2-40B4-BE49-F238E27FC236}">
                <a16:creationId xmlns:a16="http://schemas.microsoft.com/office/drawing/2014/main" id="{6DB03049-F4B5-EEB8-B765-04C04EECB7DD}"/>
              </a:ext>
            </a:extLst>
          </p:cNvPr>
          <p:cNvPicPr>
            <a:picLocks noChangeAspect="1"/>
          </p:cNvPicPr>
          <p:nvPr/>
        </p:nvPicPr>
        <p:blipFill>
          <a:blip r:embed="rId2"/>
          <a:stretch>
            <a:fillRect/>
          </a:stretch>
        </p:blipFill>
        <p:spPr>
          <a:xfrm>
            <a:off x="6172202" y="2713383"/>
            <a:ext cx="5400000" cy="3224626"/>
          </a:xfrm>
          <a:prstGeom prst="rect">
            <a:avLst/>
          </a:prstGeom>
        </p:spPr>
      </p:pic>
    </p:spTree>
    <p:extLst>
      <p:ext uri="{BB962C8B-B14F-4D97-AF65-F5344CB8AC3E}">
        <p14:creationId xmlns:p14="http://schemas.microsoft.com/office/powerpoint/2010/main" val="3546299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1A629-3032-1D0B-D737-F786519ECBF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9FEA224-CB7C-BA1A-61F6-34CA73178845}"/>
              </a:ext>
            </a:extLst>
          </p:cNvPr>
          <p:cNvSpPr>
            <a:spLocks noGrp="1"/>
          </p:cNvSpPr>
          <p:nvPr>
            <p:ph type="title"/>
          </p:nvPr>
        </p:nvSpPr>
        <p:spPr/>
        <p:txBody>
          <a:bodyPr/>
          <a:lstStyle/>
          <a:p>
            <a:r>
              <a:rPr lang="tr-TR" dirty="0"/>
              <a:t>CSS Kodu</a:t>
            </a:r>
          </a:p>
        </p:txBody>
      </p:sp>
      <p:sp>
        <p:nvSpPr>
          <p:cNvPr id="3" name="Metin Yer Tutucusu 2">
            <a:extLst>
              <a:ext uri="{FF2B5EF4-FFF2-40B4-BE49-F238E27FC236}">
                <a16:creationId xmlns:a16="http://schemas.microsoft.com/office/drawing/2014/main" id="{1F74A345-7850-641A-D496-FD84E3AC4256}"/>
              </a:ext>
            </a:extLst>
          </p:cNvPr>
          <p:cNvSpPr>
            <a:spLocks noGrp="1"/>
          </p:cNvSpPr>
          <p:nvPr>
            <p:ph type="body" idx="1"/>
          </p:nvPr>
        </p:nvSpPr>
        <p:spPr/>
        <p:txBody>
          <a:bodyPr>
            <a:normAutofit/>
          </a:bodyPr>
          <a:lstStyle/>
          <a:p>
            <a:pPr marL="114300" indent="0">
              <a:buNone/>
            </a:pPr>
            <a:r>
              <a:rPr lang="tr-TR" sz="1600" dirty="0"/>
              <a:t>CSS kodunun temel görevleri; CSS değişkenleri ve </a:t>
            </a:r>
            <a:r>
              <a:rPr lang="tr-TR" sz="1600" dirty="0" err="1"/>
              <a:t>flexbox</a:t>
            </a:r>
            <a:r>
              <a:rPr lang="tr-TR" sz="1600" dirty="0"/>
              <a:t> modeli ile arayüzün genel tasarımını ve görsel hiyerarşisini oluşturmak, medya sorguları ve ölçeklendirme özelliklerini kullanarak uygulamanın farklı ekran boyutlarına uyum sağlamasını kontrol etmek, </a:t>
            </a:r>
            <a:r>
              <a:rPr lang="tr-TR" sz="1600" dirty="0" err="1"/>
              <a:t>hover</a:t>
            </a:r>
            <a:r>
              <a:rPr lang="tr-TR" sz="1600" dirty="0"/>
              <a:t>/</a:t>
            </a:r>
            <a:r>
              <a:rPr lang="tr-TR" sz="1600" dirty="0" err="1"/>
              <a:t>focus</a:t>
            </a:r>
            <a:r>
              <a:rPr lang="tr-TR" sz="1600" dirty="0"/>
              <a:t> gibi kullanıcı etkileşimlerini şekillendirmek ve EICAS ekranındaki hata/uyarı durumları için gerekli renk değişimleri, yanıp sönme gibi görsel kuralları belirlemek.</a:t>
            </a:r>
          </a:p>
        </p:txBody>
      </p:sp>
      <p:pic>
        <p:nvPicPr>
          <p:cNvPr id="5" name="Resim 4">
            <a:extLst>
              <a:ext uri="{FF2B5EF4-FFF2-40B4-BE49-F238E27FC236}">
                <a16:creationId xmlns:a16="http://schemas.microsoft.com/office/drawing/2014/main" id="{8BD450C0-0455-7BA7-BD8B-5284A57D8B57}"/>
              </a:ext>
            </a:extLst>
          </p:cNvPr>
          <p:cNvPicPr>
            <a:picLocks noChangeAspect="1"/>
          </p:cNvPicPr>
          <p:nvPr/>
        </p:nvPicPr>
        <p:blipFill>
          <a:blip r:embed="rId2"/>
          <a:stretch>
            <a:fillRect/>
          </a:stretch>
        </p:blipFill>
        <p:spPr>
          <a:xfrm>
            <a:off x="6172202" y="2713383"/>
            <a:ext cx="5400000" cy="3524413"/>
          </a:xfrm>
          <a:prstGeom prst="rect">
            <a:avLst/>
          </a:prstGeom>
        </p:spPr>
      </p:pic>
    </p:spTree>
    <p:extLst>
      <p:ext uri="{BB962C8B-B14F-4D97-AF65-F5344CB8AC3E}">
        <p14:creationId xmlns:p14="http://schemas.microsoft.com/office/powerpoint/2010/main" val="330286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72E7CE-EA21-2564-6470-B39F4C5C4703}"/>
              </a:ext>
            </a:extLst>
          </p:cNvPr>
          <p:cNvSpPr>
            <a:spLocks noGrp="1"/>
          </p:cNvSpPr>
          <p:nvPr>
            <p:ph type="title"/>
          </p:nvPr>
        </p:nvSpPr>
        <p:spPr/>
        <p:txBody>
          <a:bodyPr/>
          <a:lstStyle/>
          <a:p>
            <a:r>
              <a:rPr lang="tr-TR" dirty="0"/>
              <a:t>JavaScript Kodu</a:t>
            </a:r>
          </a:p>
        </p:txBody>
      </p:sp>
      <p:sp>
        <p:nvSpPr>
          <p:cNvPr id="3" name="Metin Yer Tutucusu 2">
            <a:extLst>
              <a:ext uri="{FF2B5EF4-FFF2-40B4-BE49-F238E27FC236}">
                <a16:creationId xmlns:a16="http://schemas.microsoft.com/office/drawing/2014/main" id="{317293D5-626C-FD97-2DA2-DB12F0829364}"/>
              </a:ext>
            </a:extLst>
          </p:cNvPr>
          <p:cNvSpPr>
            <a:spLocks noGrp="1"/>
          </p:cNvSpPr>
          <p:nvPr>
            <p:ph type="body" idx="1"/>
          </p:nvPr>
        </p:nvSpPr>
        <p:spPr/>
        <p:txBody>
          <a:bodyPr>
            <a:normAutofit/>
          </a:bodyPr>
          <a:lstStyle/>
          <a:p>
            <a:pPr marL="114300" indent="0">
              <a:buNone/>
            </a:pPr>
            <a:r>
              <a:rPr lang="tr-TR" sz="1600" dirty="0"/>
              <a:t>JavaScript, web tabanlı uygulamalarda etkileşimi ve dinamizmi sağlayan yüksek seviyeli, nesne yönelimli ve genellikle tarayıcı tarafında çalışan bir betik dilidir. </a:t>
            </a:r>
          </a:p>
          <a:p>
            <a:pPr marL="114300" indent="0">
              <a:buNone/>
            </a:pPr>
            <a:r>
              <a:rPr lang="tr-TR" sz="1600" dirty="0"/>
              <a:t>Statik olan HTML ve CSS katmanlarına iş mantığı ekler. DOM manipülasyonu sayesinde, sayfa yeniden yüklenmeden arayüzdeki elementlerin özellikleri, stilleri veya içerikleri gerçek zamanlı olarak değiştirilebilir. Kullanıcı girdilerini işlemek ve matematiksel simülasyonları yürütmek için kullanılır.</a:t>
            </a:r>
          </a:p>
        </p:txBody>
      </p:sp>
      <p:pic>
        <p:nvPicPr>
          <p:cNvPr id="6" name="Resim 5">
            <a:extLst>
              <a:ext uri="{FF2B5EF4-FFF2-40B4-BE49-F238E27FC236}">
                <a16:creationId xmlns:a16="http://schemas.microsoft.com/office/drawing/2014/main" id="{0544E77F-1071-7E59-A3C3-ACA24651C2D6}"/>
              </a:ext>
            </a:extLst>
          </p:cNvPr>
          <p:cNvPicPr>
            <a:picLocks noChangeAspect="1"/>
          </p:cNvPicPr>
          <p:nvPr/>
        </p:nvPicPr>
        <p:blipFill>
          <a:blip r:embed="rId2"/>
          <a:stretch>
            <a:fillRect/>
          </a:stretch>
        </p:blipFill>
        <p:spPr>
          <a:xfrm>
            <a:off x="6172202" y="2713383"/>
            <a:ext cx="5400000" cy="3059725"/>
          </a:xfrm>
          <a:prstGeom prst="rect">
            <a:avLst/>
          </a:prstGeom>
        </p:spPr>
      </p:pic>
    </p:spTree>
    <p:extLst>
      <p:ext uri="{BB962C8B-B14F-4D97-AF65-F5344CB8AC3E}">
        <p14:creationId xmlns:p14="http://schemas.microsoft.com/office/powerpoint/2010/main" val="3963879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B5871-64A9-F0EB-6E0B-5F713C8C634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F3DB0FD-430A-9DE4-1050-06FDF8C90D25}"/>
              </a:ext>
            </a:extLst>
          </p:cNvPr>
          <p:cNvSpPr>
            <a:spLocks noGrp="1"/>
          </p:cNvSpPr>
          <p:nvPr>
            <p:ph type="title"/>
          </p:nvPr>
        </p:nvSpPr>
        <p:spPr/>
        <p:txBody>
          <a:bodyPr/>
          <a:lstStyle/>
          <a:p>
            <a:r>
              <a:rPr lang="tr-TR" dirty="0"/>
              <a:t>JavaScript Kodu</a:t>
            </a:r>
          </a:p>
        </p:txBody>
      </p:sp>
      <p:sp>
        <p:nvSpPr>
          <p:cNvPr id="3" name="Metin Yer Tutucusu 2">
            <a:extLst>
              <a:ext uri="{FF2B5EF4-FFF2-40B4-BE49-F238E27FC236}">
                <a16:creationId xmlns:a16="http://schemas.microsoft.com/office/drawing/2014/main" id="{F035B088-18B0-AC8D-B629-AAC4BF2E5446}"/>
              </a:ext>
            </a:extLst>
          </p:cNvPr>
          <p:cNvSpPr>
            <a:spLocks noGrp="1"/>
          </p:cNvSpPr>
          <p:nvPr>
            <p:ph type="body" idx="1"/>
          </p:nvPr>
        </p:nvSpPr>
        <p:spPr/>
        <p:txBody>
          <a:bodyPr>
            <a:normAutofit/>
          </a:bodyPr>
          <a:lstStyle/>
          <a:p>
            <a:pPr marL="114300" indent="0">
              <a:buNone/>
            </a:pPr>
            <a:r>
              <a:rPr lang="tr-TR" sz="1600" dirty="0"/>
              <a:t>JavaScript kodu, projenin matematiksel motor fizik modelini oluşturur. Gaz kolu pozisyonuna bağlı olarak N1, EGT, yağ sıcaklığı ve basıncı gibi anlık hedefleri hesaplar ve atalet simülasyonu uygulayarak bu hedeflere yumuşak geçişler sağlar. Hesaplanan güncel verileri, DOM manipülasyonu ile doğrudan index.html içerisindeki </a:t>
            </a:r>
            <a:r>
              <a:rPr lang="tr-TR" sz="1600" dirty="0" err="1"/>
              <a:t>Inline</a:t>
            </a:r>
            <a:r>
              <a:rPr lang="tr-TR" sz="1600" dirty="0"/>
              <a:t> SVG elemanlarının dönüş açılarına (</a:t>
            </a:r>
            <a:r>
              <a:rPr lang="tr-TR" sz="1400" dirty="0" err="1">
                <a:latin typeface="Consolas" panose="020B0609020204030204" pitchFamily="49" charset="0"/>
              </a:rPr>
              <a:t>transform</a:t>
            </a:r>
            <a:r>
              <a:rPr lang="tr-TR" sz="1400" dirty="0">
                <a:latin typeface="Consolas" panose="020B0609020204030204" pitchFamily="49" charset="0"/>
              </a:rPr>
              <a:t>: </a:t>
            </a:r>
            <a:r>
              <a:rPr lang="tr-TR" sz="1400" dirty="0" err="1">
                <a:latin typeface="Consolas" panose="020B0609020204030204" pitchFamily="49" charset="0"/>
              </a:rPr>
              <a:t>rotate</a:t>
            </a:r>
            <a:r>
              <a:rPr lang="tr-TR" sz="1600" dirty="0"/>
              <a:t>) ve yay uzunluklarına dönüştürerek statik arayüzü çalışan bir simülasyon haline getirir.</a:t>
            </a:r>
          </a:p>
        </p:txBody>
      </p:sp>
      <p:pic>
        <p:nvPicPr>
          <p:cNvPr id="6" name="Resim 5">
            <a:extLst>
              <a:ext uri="{FF2B5EF4-FFF2-40B4-BE49-F238E27FC236}">
                <a16:creationId xmlns:a16="http://schemas.microsoft.com/office/drawing/2014/main" id="{71587448-E8B3-F92F-9B00-6C168CC8F599}"/>
              </a:ext>
            </a:extLst>
          </p:cNvPr>
          <p:cNvPicPr>
            <a:picLocks noChangeAspect="1"/>
          </p:cNvPicPr>
          <p:nvPr/>
        </p:nvPicPr>
        <p:blipFill>
          <a:blip r:embed="rId2"/>
          <a:stretch>
            <a:fillRect/>
          </a:stretch>
        </p:blipFill>
        <p:spPr>
          <a:xfrm>
            <a:off x="6172202" y="3066646"/>
            <a:ext cx="5400000" cy="3476218"/>
          </a:xfrm>
          <a:prstGeom prst="rect">
            <a:avLst/>
          </a:prstGeom>
        </p:spPr>
      </p:pic>
      <p:pic>
        <p:nvPicPr>
          <p:cNvPr id="8" name="Resim 7">
            <a:extLst>
              <a:ext uri="{FF2B5EF4-FFF2-40B4-BE49-F238E27FC236}">
                <a16:creationId xmlns:a16="http://schemas.microsoft.com/office/drawing/2014/main" id="{510B681B-5D03-42C8-5B15-66B8B77AE333}"/>
              </a:ext>
            </a:extLst>
          </p:cNvPr>
          <p:cNvPicPr>
            <a:picLocks noChangeAspect="1"/>
          </p:cNvPicPr>
          <p:nvPr/>
        </p:nvPicPr>
        <p:blipFill>
          <a:blip r:embed="rId3"/>
          <a:stretch>
            <a:fillRect/>
          </a:stretch>
        </p:blipFill>
        <p:spPr>
          <a:xfrm>
            <a:off x="6172202" y="161247"/>
            <a:ext cx="5400000" cy="2472138"/>
          </a:xfrm>
          <a:prstGeom prst="rect">
            <a:avLst/>
          </a:prstGeom>
        </p:spPr>
      </p:pic>
      <p:sp>
        <p:nvSpPr>
          <p:cNvPr id="9" name="Metin kutusu 8">
            <a:extLst>
              <a:ext uri="{FF2B5EF4-FFF2-40B4-BE49-F238E27FC236}">
                <a16:creationId xmlns:a16="http://schemas.microsoft.com/office/drawing/2014/main" id="{B71392E4-5228-B47C-E9BE-0222699E4C3E}"/>
              </a:ext>
            </a:extLst>
          </p:cNvPr>
          <p:cNvSpPr txBox="1"/>
          <p:nvPr/>
        </p:nvSpPr>
        <p:spPr>
          <a:xfrm>
            <a:off x="6172202" y="6542864"/>
            <a:ext cx="5400000" cy="307777"/>
          </a:xfrm>
          <a:prstGeom prst="rect">
            <a:avLst/>
          </a:prstGeom>
          <a:noFill/>
        </p:spPr>
        <p:txBody>
          <a:bodyPr wrap="square" rtlCol="0">
            <a:spAutoFit/>
          </a:bodyPr>
          <a:lstStyle/>
          <a:p>
            <a:pPr algn="ctr"/>
            <a:r>
              <a:rPr lang="tr-TR" i="1" dirty="0" err="1">
                <a:solidFill>
                  <a:srgbClr val="0070C0"/>
                </a:solidFill>
                <a:latin typeface="Times New Roman" panose="02020603050405020304" pitchFamily="18" charset="0"/>
                <a:cs typeface="Times New Roman" panose="02020603050405020304" pitchFamily="18" charset="0"/>
              </a:rPr>
              <a:t>Throttle</a:t>
            </a:r>
            <a:r>
              <a:rPr lang="tr-TR" i="1" dirty="0">
                <a:solidFill>
                  <a:srgbClr val="0070C0"/>
                </a:solidFill>
                <a:latin typeface="Times New Roman" panose="02020603050405020304" pitchFamily="18" charset="0"/>
                <a:cs typeface="Times New Roman" panose="02020603050405020304" pitchFamily="18" charset="0"/>
              </a:rPr>
              <a:t> </a:t>
            </a:r>
            <a:r>
              <a:rPr lang="tr-TR" i="1" dirty="0" err="1">
                <a:solidFill>
                  <a:srgbClr val="0070C0"/>
                </a:solidFill>
                <a:latin typeface="Times New Roman" panose="02020603050405020304" pitchFamily="18" charset="0"/>
                <a:cs typeface="Times New Roman" panose="02020603050405020304" pitchFamily="18" charset="0"/>
              </a:rPr>
              <a:t>Slider</a:t>
            </a:r>
            <a:r>
              <a:rPr lang="tr-TR" i="1" dirty="0">
                <a:solidFill>
                  <a:srgbClr val="0070C0"/>
                </a:solidFill>
                <a:latin typeface="Times New Roman" panose="02020603050405020304" pitchFamily="18" charset="0"/>
                <a:cs typeface="Times New Roman" panose="02020603050405020304" pitchFamily="18" charset="0"/>
              </a:rPr>
              <a:t> </a:t>
            </a:r>
            <a:r>
              <a:rPr lang="tr-TR" i="1" dirty="0" err="1">
                <a:solidFill>
                  <a:srgbClr val="0070C0"/>
                </a:solidFill>
                <a:latin typeface="Times New Roman" panose="02020603050405020304" pitchFamily="18" charset="0"/>
                <a:cs typeface="Times New Roman" panose="02020603050405020304" pitchFamily="18" charset="0"/>
              </a:rPr>
              <a:t>Event</a:t>
            </a:r>
            <a:r>
              <a:rPr lang="tr-TR" i="1" dirty="0">
                <a:solidFill>
                  <a:srgbClr val="0070C0"/>
                </a:solidFill>
                <a:latin typeface="Times New Roman" panose="02020603050405020304" pitchFamily="18" charset="0"/>
                <a:cs typeface="Times New Roman" panose="02020603050405020304" pitchFamily="18" charset="0"/>
              </a:rPr>
              <a:t> </a:t>
            </a:r>
            <a:r>
              <a:rPr lang="tr-TR" i="1" dirty="0" err="1">
                <a:solidFill>
                  <a:srgbClr val="0070C0"/>
                </a:solidFill>
                <a:latin typeface="Times New Roman" panose="02020603050405020304" pitchFamily="18" charset="0"/>
                <a:cs typeface="Times New Roman" panose="02020603050405020304" pitchFamily="18" charset="0"/>
              </a:rPr>
              <a:t>Listener’ları</a:t>
            </a:r>
            <a:endParaRPr lang="tr-TR" i="1" dirty="0">
              <a:solidFill>
                <a:srgbClr val="0070C0"/>
              </a:solidFill>
              <a:latin typeface="Times New Roman" panose="02020603050405020304" pitchFamily="18" charset="0"/>
              <a:cs typeface="Times New Roman" panose="02020603050405020304" pitchFamily="18" charset="0"/>
            </a:endParaRPr>
          </a:p>
        </p:txBody>
      </p:sp>
      <p:sp>
        <p:nvSpPr>
          <p:cNvPr id="4" name="Metin kutusu 3">
            <a:extLst>
              <a:ext uri="{FF2B5EF4-FFF2-40B4-BE49-F238E27FC236}">
                <a16:creationId xmlns:a16="http://schemas.microsoft.com/office/drawing/2014/main" id="{1F1EC990-47AA-BD2D-672B-91AB1A3070D6}"/>
              </a:ext>
            </a:extLst>
          </p:cNvPr>
          <p:cNvSpPr txBox="1"/>
          <p:nvPr/>
        </p:nvSpPr>
        <p:spPr>
          <a:xfrm>
            <a:off x="6172202" y="2628273"/>
            <a:ext cx="5400000" cy="307777"/>
          </a:xfrm>
          <a:prstGeom prst="rect">
            <a:avLst/>
          </a:prstGeom>
          <a:noFill/>
        </p:spPr>
        <p:txBody>
          <a:bodyPr wrap="square" rtlCol="0">
            <a:spAutoFit/>
          </a:bodyPr>
          <a:lstStyle/>
          <a:p>
            <a:pPr algn="ctr"/>
            <a:r>
              <a:rPr lang="tr-TR" i="1" dirty="0">
                <a:solidFill>
                  <a:srgbClr val="0070C0"/>
                </a:solidFill>
                <a:latin typeface="Times New Roman" panose="02020603050405020304" pitchFamily="18" charset="0"/>
                <a:cs typeface="Times New Roman" panose="02020603050405020304" pitchFamily="18" charset="0"/>
              </a:rPr>
              <a:t>İbre Dönüşü ve Alan Taraması Fonksiyonu</a:t>
            </a:r>
          </a:p>
        </p:txBody>
      </p:sp>
    </p:spTree>
    <p:extLst>
      <p:ext uri="{BB962C8B-B14F-4D97-AF65-F5344CB8AC3E}">
        <p14:creationId xmlns:p14="http://schemas.microsoft.com/office/powerpoint/2010/main" val="3043125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4AD9DBD-CEC3-F425-E295-FFF3AC617632}"/>
              </a:ext>
            </a:extLst>
          </p:cNvPr>
          <p:cNvSpPr>
            <a:spLocks noGrp="1"/>
          </p:cNvSpPr>
          <p:nvPr>
            <p:ph type="title"/>
          </p:nvPr>
        </p:nvSpPr>
        <p:spPr/>
        <p:txBody>
          <a:bodyPr/>
          <a:lstStyle/>
          <a:p>
            <a:r>
              <a:rPr lang="tr-TR" dirty="0"/>
              <a:t>Uygulama Demosu ve Özellikleri</a:t>
            </a:r>
          </a:p>
        </p:txBody>
      </p:sp>
      <p:sp>
        <p:nvSpPr>
          <p:cNvPr id="3" name="Metin Yer Tutucusu 2">
            <a:extLst>
              <a:ext uri="{FF2B5EF4-FFF2-40B4-BE49-F238E27FC236}">
                <a16:creationId xmlns:a16="http://schemas.microsoft.com/office/drawing/2014/main" id="{7D43664D-88B7-88A8-5689-1D0D52233399}"/>
              </a:ext>
            </a:extLst>
          </p:cNvPr>
          <p:cNvSpPr>
            <a:spLocks noGrp="1"/>
          </p:cNvSpPr>
          <p:nvPr>
            <p:ph type="body" idx="1"/>
          </p:nvPr>
        </p:nvSpPr>
        <p:spPr/>
        <p:txBody>
          <a:bodyPr>
            <a:normAutofit/>
          </a:bodyPr>
          <a:lstStyle/>
          <a:p>
            <a:pPr marL="114300" indent="0">
              <a:buNone/>
            </a:pPr>
            <a:r>
              <a:rPr lang="tr-TR" sz="1600" dirty="0">
                <a:hlinkClick r:id="rId2"/>
              </a:rPr>
              <a:t>https://acrilot.github.io/EICAS_Uygulama/</a:t>
            </a:r>
            <a:endParaRPr lang="tr-TR" sz="1600" dirty="0"/>
          </a:p>
          <a:p>
            <a:pPr marL="114300" indent="0">
              <a:buNone/>
            </a:pPr>
            <a:endParaRPr lang="tr-TR" sz="1600" dirty="0"/>
          </a:p>
        </p:txBody>
      </p:sp>
    </p:spTree>
    <p:extLst>
      <p:ext uri="{BB962C8B-B14F-4D97-AF65-F5344CB8AC3E}">
        <p14:creationId xmlns:p14="http://schemas.microsoft.com/office/powerpoint/2010/main" val="3889438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9FBFD70-E246-0B61-C162-5389315A0BA5}"/>
              </a:ext>
            </a:extLst>
          </p:cNvPr>
          <p:cNvSpPr>
            <a:spLocks noGrp="1"/>
          </p:cNvSpPr>
          <p:nvPr>
            <p:ph type="title"/>
          </p:nvPr>
        </p:nvSpPr>
        <p:spPr/>
        <p:txBody>
          <a:bodyPr/>
          <a:lstStyle/>
          <a:p>
            <a:r>
              <a:rPr lang="tr-TR" dirty="0"/>
              <a:t>Kaynakça</a:t>
            </a:r>
          </a:p>
        </p:txBody>
      </p:sp>
      <p:sp>
        <p:nvSpPr>
          <p:cNvPr id="3" name="Metin Yer Tutucusu 2">
            <a:extLst>
              <a:ext uri="{FF2B5EF4-FFF2-40B4-BE49-F238E27FC236}">
                <a16:creationId xmlns:a16="http://schemas.microsoft.com/office/drawing/2014/main" id="{F071C5EB-E4E5-25C3-99E5-D2E3C9B26733}"/>
              </a:ext>
            </a:extLst>
          </p:cNvPr>
          <p:cNvSpPr>
            <a:spLocks noGrp="1"/>
          </p:cNvSpPr>
          <p:nvPr>
            <p:ph type="body" idx="1"/>
          </p:nvPr>
        </p:nvSpPr>
        <p:spPr/>
        <p:txBody>
          <a:bodyPr>
            <a:normAutofit/>
          </a:bodyPr>
          <a:lstStyle/>
          <a:p>
            <a:r>
              <a:rPr lang="en-US" sz="1400" dirty="0">
                <a:hlinkClick r:id="rId2"/>
              </a:rPr>
              <a:t>https://www.svgrepo.com/svg/353925/javascript</a:t>
            </a:r>
            <a:endParaRPr lang="tr-TR" sz="1400" dirty="0"/>
          </a:p>
          <a:p>
            <a:r>
              <a:rPr lang="en-US" sz="1400" dirty="0">
                <a:hlinkClick r:id="rId3"/>
              </a:rPr>
              <a:t>https://www.svgrepo.com/svg/452228/html-5</a:t>
            </a:r>
            <a:endParaRPr lang="tr-TR" sz="1400" dirty="0"/>
          </a:p>
          <a:p>
            <a:r>
              <a:rPr lang="en-US" sz="1400" dirty="0">
                <a:hlinkClick r:id="rId4"/>
              </a:rPr>
              <a:t>https://www.svgrepo.com/svg/452185/css-3</a:t>
            </a:r>
            <a:endParaRPr lang="tr-TR" sz="1400" dirty="0"/>
          </a:p>
          <a:p>
            <a:r>
              <a:rPr lang="en-US" sz="1400" dirty="0">
                <a:hlinkClick r:id="rId5"/>
              </a:rPr>
              <a:t>https://tr.wikipedia.org/wiki/%C3%96l%C3%A7eklenebilir_Vekt%C3%B6r_Grafikleri</a:t>
            </a:r>
            <a:endParaRPr lang="tr-TR" sz="1400" dirty="0"/>
          </a:p>
          <a:p>
            <a:r>
              <a:rPr lang="en-US" sz="1400" dirty="0">
                <a:hlinkClick r:id="rId6"/>
              </a:rPr>
              <a:t>https://tr.wikipedia.org/wiki/HTML</a:t>
            </a:r>
            <a:endParaRPr lang="tr-TR" sz="1400" dirty="0"/>
          </a:p>
          <a:p>
            <a:r>
              <a:rPr lang="tr-TR" sz="1400" dirty="0">
                <a:hlinkClick r:id="rId7"/>
              </a:rPr>
              <a:t>https://tr.wikipedia.org/wiki/CSS</a:t>
            </a:r>
            <a:endParaRPr lang="tr-TR" sz="1400" dirty="0"/>
          </a:p>
          <a:p>
            <a:r>
              <a:rPr lang="tr-TR" sz="1400" dirty="0">
                <a:hlinkClick r:id="rId8"/>
              </a:rPr>
              <a:t>https://tr.wikipedia.org/wiki/JavaScript</a:t>
            </a:r>
            <a:endParaRPr lang="tr-TR" sz="1400" dirty="0"/>
          </a:p>
          <a:p>
            <a:endParaRPr lang="tr-TR" sz="1400" dirty="0"/>
          </a:p>
        </p:txBody>
      </p:sp>
      <p:sp>
        <p:nvSpPr>
          <p:cNvPr id="4" name="Metin Yer Tutucusu 3">
            <a:extLst>
              <a:ext uri="{FF2B5EF4-FFF2-40B4-BE49-F238E27FC236}">
                <a16:creationId xmlns:a16="http://schemas.microsoft.com/office/drawing/2014/main" id="{8EC49606-DC7A-0D34-35E4-F3B775A02AC5}"/>
              </a:ext>
            </a:extLst>
          </p:cNvPr>
          <p:cNvSpPr>
            <a:spLocks noGrp="1"/>
          </p:cNvSpPr>
          <p:nvPr>
            <p:ph type="body" idx="2"/>
          </p:nvPr>
        </p:nvSpPr>
        <p:spPr/>
        <p:txBody>
          <a:bodyPr/>
          <a:lstStyle/>
          <a:p>
            <a:endParaRPr lang="tr-TR"/>
          </a:p>
        </p:txBody>
      </p:sp>
    </p:spTree>
    <p:extLst>
      <p:ext uri="{BB962C8B-B14F-4D97-AF65-F5344CB8AC3E}">
        <p14:creationId xmlns:p14="http://schemas.microsoft.com/office/powerpoint/2010/main" val="775463035"/>
      </p:ext>
    </p:extLst>
  </p:cSld>
  <p:clrMapOvr>
    <a:masterClrMapping/>
  </p:clrMapOvr>
</p:sld>
</file>

<file path=ppt/theme/theme1.xml><?xml version="1.0" encoding="utf-8"?>
<a:theme xmlns:a="http://schemas.openxmlformats.org/drawingml/2006/main" name="Office Teması">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904</Words>
  <Application>Microsoft Office PowerPoint</Application>
  <PresentationFormat>Geniş ekran</PresentationFormat>
  <Paragraphs>53</Paragraphs>
  <Slides>16</Slides>
  <Notes>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16</vt:i4>
      </vt:variant>
    </vt:vector>
  </HeadingPairs>
  <TitlesOfParts>
    <vt:vector size="20" baseType="lpstr">
      <vt:lpstr>Arial</vt:lpstr>
      <vt:lpstr>Consolas</vt:lpstr>
      <vt:lpstr>Times New Roman</vt:lpstr>
      <vt:lpstr>Office Teması</vt:lpstr>
      <vt:lpstr>PowerPoint Sunusu</vt:lpstr>
      <vt:lpstr>Giriş</vt:lpstr>
      <vt:lpstr>Platform Seçimi</vt:lpstr>
      <vt:lpstr>EICAS Ekranının Çizilmesi</vt:lpstr>
      <vt:lpstr>EICAS Ekranının Çizilmesi</vt:lpstr>
      <vt:lpstr>EICAS Ekranının Çizilmesi</vt:lpstr>
      <vt:lpstr>EICAS Ekranının Çizilmesi</vt:lpstr>
      <vt:lpstr>HTML Kodu</vt:lpstr>
      <vt:lpstr>HTML Kodu</vt:lpstr>
      <vt:lpstr>Inline SVG Kullanımının Avantajları</vt:lpstr>
      <vt:lpstr>CSS Kodu</vt:lpstr>
      <vt:lpstr>CSS Kodu</vt:lpstr>
      <vt:lpstr>JavaScript Kodu</vt:lpstr>
      <vt:lpstr>JavaScript Kodu</vt:lpstr>
      <vt:lpstr>Uygulama Demosu ve Özellikleri</vt:lpstr>
      <vt:lpstr>Kaynakça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IBRAHIM ETEM YILMAZ</dc:creator>
  <cp:lastModifiedBy>İBRAHİM ETEM YILMAZ</cp:lastModifiedBy>
  <cp:revision>12</cp:revision>
  <dcterms:created xsi:type="dcterms:W3CDTF">2022-04-08T08:56:23Z</dcterms:created>
  <dcterms:modified xsi:type="dcterms:W3CDTF">2026-05-15T12:15:46Z</dcterms:modified>
</cp:coreProperties>
</file>